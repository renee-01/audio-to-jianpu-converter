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芫荽" charset="1" panose="00000000000000000000"/>
      <p:regular r:id="rId30"/>
    </p:embeddedFont>
    <p:embeddedFont>
      <p:font typeface="Abril Fatface" charset="1" panose="02000503000000020003"/>
      <p:regular r:id="rId31"/>
    </p:embeddedFont>
    <p:embeddedFont>
      <p:font typeface="Open Sans Bold" charset="1" panose="00000000000000000000"/>
      <p:regular r:id="rId32"/>
    </p:embeddedFont>
    <p:embeddedFont>
      <p:font typeface="Noto Sans T Chinese" charset="1" panose="020B0500000000000000"/>
      <p:regular r:id="rId33"/>
    </p:embeddedFont>
    <p:embeddedFont>
      <p:font typeface="Bernier Shade" charset="1" panose="00000500000000000000"/>
      <p:regular r:id="rId34"/>
    </p:embeddedFont>
    <p:embeddedFont>
      <p:font typeface="Pacifico" charset="1" panose="000005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7.jpe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83274" y="-9367547"/>
            <a:ext cx="19654547" cy="19654547"/>
          </a:xfrm>
          <a:custGeom>
            <a:avLst/>
            <a:gdLst/>
            <a:ahLst/>
            <a:cxnLst/>
            <a:rect r="r" b="b" t="t" l="l"/>
            <a:pathLst>
              <a:path h="19654547" w="19654547">
                <a:moveTo>
                  <a:pt x="0" y="0"/>
                </a:moveTo>
                <a:lnTo>
                  <a:pt x="19654548" y="0"/>
                </a:lnTo>
                <a:lnTo>
                  <a:pt x="19654548" y="19654547"/>
                </a:lnTo>
                <a:lnTo>
                  <a:pt x="0" y="196545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72639" y="1156957"/>
            <a:ext cx="16185180" cy="398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41"/>
              </a:lnSpc>
              <a:spcBef>
                <a:spcPct val="0"/>
              </a:spcBef>
            </a:pPr>
            <a:r>
              <a:rPr lang="en-US" sz="15529">
                <a:solidFill>
                  <a:srgbClr val="35332F"/>
                </a:solidFill>
                <a:latin typeface="芫荽"/>
                <a:ea typeface="芫荽"/>
                <a:cs typeface="芫荽"/>
                <a:sym typeface="芫荽"/>
              </a:rPr>
              <a:t>音訊轉換簡譜系統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06414" y="-2102004"/>
            <a:ext cx="4645997" cy="4640190"/>
          </a:xfrm>
          <a:custGeom>
            <a:avLst/>
            <a:gdLst/>
            <a:ahLst/>
            <a:cxnLst/>
            <a:rect r="r" b="b" t="t" l="l"/>
            <a:pathLst>
              <a:path h="4640190" w="4645997">
                <a:moveTo>
                  <a:pt x="0" y="0"/>
                </a:moveTo>
                <a:lnTo>
                  <a:pt x="4645997" y="0"/>
                </a:lnTo>
                <a:lnTo>
                  <a:pt x="4645997" y="4640190"/>
                </a:lnTo>
                <a:lnTo>
                  <a:pt x="0" y="46401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53609" y="-1742151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0" y="0"/>
                </a:moveTo>
                <a:lnTo>
                  <a:pt x="5039391" y="0"/>
                </a:lnTo>
                <a:lnTo>
                  <a:pt x="5039391" y="5030228"/>
                </a:lnTo>
                <a:lnTo>
                  <a:pt x="0" y="50302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08929" y="7279975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0" y="0"/>
                </a:moveTo>
                <a:lnTo>
                  <a:pt x="5039391" y="0"/>
                </a:lnTo>
                <a:lnTo>
                  <a:pt x="5039391" y="5030228"/>
                </a:lnTo>
                <a:lnTo>
                  <a:pt x="0" y="50302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451293" y="5067300"/>
            <a:ext cx="19212089" cy="58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spc="44">
                <a:solidFill>
                  <a:srgbClr val="B12622"/>
                </a:solidFill>
                <a:latin typeface="Abril Fatface"/>
                <a:ea typeface="Abril Fatface"/>
                <a:cs typeface="Abril Fatface"/>
                <a:sym typeface="Abril Fatface"/>
              </a:rPr>
              <a:t>A system for conver</a:t>
            </a:r>
            <a:r>
              <a:rPr lang="en-US" sz="3400" spc="44">
                <a:solidFill>
                  <a:srgbClr val="B12622"/>
                </a:solidFill>
                <a:latin typeface="Abril Fatface"/>
                <a:ea typeface="Abril Fatface"/>
                <a:cs typeface="Abril Fatface"/>
                <a:sym typeface="Abril Fatface"/>
              </a:rPr>
              <a:t>ting audio to notation into numbered musical notation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322999" y="7581294"/>
            <a:ext cx="4645997" cy="4640190"/>
          </a:xfrm>
          <a:custGeom>
            <a:avLst/>
            <a:gdLst/>
            <a:ahLst/>
            <a:cxnLst/>
            <a:rect r="r" b="b" t="t" l="l"/>
            <a:pathLst>
              <a:path h="4640190" w="4645997">
                <a:moveTo>
                  <a:pt x="0" y="0"/>
                </a:moveTo>
                <a:lnTo>
                  <a:pt x="4645998" y="0"/>
                </a:lnTo>
                <a:lnTo>
                  <a:pt x="4645998" y="4640190"/>
                </a:lnTo>
                <a:lnTo>
                  <a:pt x="0" y="46401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84830" y="6758169"/>
            <a:ext cx="4343676" cy="67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指導教授: 卓世明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84830" y="7646230"/>
            <a:ext cx="7518340" cy="67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學生姓名: 鄒芷瑄 龔正媛 郭妍妮 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119126" y="6546608"/>
            <a:ext cx="0" cy="20693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4502">
            <a:off x="10555855" y="2519285"/>
            <a:ext cx="8776368" cy="8955478"/>
          </a:xfrm>
          <a:custGeom>
            <a:avLst/>
            <a:gdLst/>
            <a:ahLst/>
            <a:cxnLst/>
            <a:rect r="r" b="b" t="t" l="l"/>
            <a:pathLst>
              <a:path h="8955478" w="8776368">
                <a:moveTo>
                  <a:pt x="0" y="0"/>
                </a:moveTo>
                <a:lnTo>
                  <a:pt x="8776368" y="0"/>
                </a:lnTo>
                <a:lnTo>
                  <a:pt x="8776368" y="8955478"/>
                </a:lnTo>
                <a:lnTo>
                  <a:pt x="0" y="8955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197231" y="7526573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8"/>
                </a:lnTo>
                <a:lnTo>
                  <a:pt x="5039391" y="5030228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7709" y="623084"/>
            <a:ext cx="7043890" cy="11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9"/>
              </a:lnSpc>
            </a:pPr>
            <a:r>
              <a:rPr lang="en-US" sz="79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目錄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7709" y="2923233"/>
            <a:ext cx="17695006" cy="49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49944" indent="-474972" lvl="1">
              <a:lnSpc>
                <a:spcPts val="6643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研究動機</a:t>
            </a:r>
          </a:p>
          <a:p>
            <a:pPr algn="just" marL="949944" indent="-474972" lvl="1">
              <a:lnSpc>
                <a:spcPts val="6643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研究目標</a:t>
            </a:r>
          </a:p>
          <a:p>
            <a:pPr algn="just" marL="949944" indent="-474972" lvl="1">
              <a:lnSpc>
                <a:spcPts val="6643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研究方式</a:t>
            </a:r>
          </a:p>
          <a:p>
            <a:pPr algn="just" marL="949944" indent="-474972" lvl="1">
              <a:lnSpc>
                <a:spcPts val="6643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系統設計與架構</a:t>
            </a:r>
          </a:p>
          <a:p>
            <a:pPr algn="just" marL="949944" indent="-474972" lvl="1">
              <a:lnSpc>
                <a:spcPts val="6643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系統實作</a:t>
            </a:r>
          </a:p>
          <a:p>
            <a:pPr algn="just" marL="949944" indent="-474972" lvl="1">
              <a:lnSpc>
                <a:spcPts val="6643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結論與未來發展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7709" y="2517125"/>
            <a:ext cx="17583391" cy="716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65" indent="-453383" lvl="1">
              <a:lnSpc>
                <a:spcPts val="6341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音樂教育工作者，特別是</a:t>
            </a:r>
            <a:r>
              <a:rPr lang="en-US" sz="4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歌唱指導老師而言，教材的取得往往面臨巨大挑戰。</a:t>
            </a:r>
          </a:p>
          <a:p>
            <a:pPr algn="l" marL="906765" indent="-453383" lvl="1">
              <a:lnSpc>
                <a:spcPts val="6341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市售歌譜教材昂貴，若另請專業人士聽寫製譜，則需耗費大量時間反覆聆聽、修音與排版，導致製作成本高昂且利潤微薄。</a:t>
            </a:r>
          </a:p>
          <a:p>
            <a:pPr algn="l" marL="906765" indent="-453383" lvl="1">
              <a:lnSpc>
                <a:spcPts val="6341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目前市面上的主流製譜軟體多側重於五線譜的排版， 缺乏對數字簡譜的專業支援與自動化轉換功能。</a:t>
            </a:r>
          </a:p>
          <a:p>
            <a:pPr algn="l">
              <a:lnSpc>
                <a:spcPts val="6341"/>
              </a:lnSpc>
            </a:pPr>
          </a:p>
          <a:p>
            <a:pPr algn="l">
              <a:lnSpc>
                <a:spcPts val="6341"/>
              </a:lnSpc>
            </a:pPr>
          </a:p>
          <a:p>
            <a:pPr algn="l">
              <a:lnSpc>
                <a:spcPts val="634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97709" y="623084"/>
            <a:ext cx="7043890" cy="11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9"/>
              </a:lnSpc>
            </a:pPr>
            <a:r>
              <a:rPr lang="en-US" sz="79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研究動機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93371" y="5369574"/>
            <a:ext cx="11301259" cy="4503258"/>
          </a:xfrm>
          <a:custGeom>
            <a:avLst/>
            <a:gdLst/>
            <a:ahLst/>
            <a:cxnLst/>
            <a:rect r="r" b="b" t="t" l="l"/>
            <a:pathLst>
              <a:path h="4503258" w="11301259">
                <a:moveTo>
                  <a:pt x="0" y="0"/>
                </a:moveTo>
                <a:lnTo>
                  <a:pt x="11301258" y="0"/>
                </a:lnTo>
                <a:lnTo>
                  <a:pt x="11301258" y="4503258"/>
                </a:lnTo>
                <a:lnTo>
                  <a:pt x="0" y="45032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5203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94139" y="1124427"/>
            <a:ext cx="10699722" cy="3297506"/>
          </a:xfrm>
          <a:custGeom>
            <a:avLst/>
            <a:gdLst/>
            <a:ahLst/>
            <a:cxnLst/>
            <a:rect r="r" b="b" t="t" l="l"/>
            <a:pathLst>
              <a:path h="3297506" w="10699722">
                <a:moveTo>
                  <a:pt x="0" y="0"/>
                </a:moveTo>
                <a:lnTo>
                  <a:pt x="10699722" y="0"/>
                </a:lnTo>
                <a:lnTo>
                  <a:pt x="10699722" y="3297507"/>
                </a:lnTo>
                <a:lnTo>
                  <a:pt x="0" y="32975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36062" y="4452768"/>
            <a:ext cx="1015876" cy="6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簡譜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82062" y="337968"/>
            <a:ext cx="1523876" cy="6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五線譜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0" y="3041753"/>
            <a:ext cx="4290837" cy="66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Anthemscore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46692" y="3929302"/>
            <a:ext cx="5504135" cy="431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特點: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音訊  → 五線譜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匯出譜 ( pdf、MIDI )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可以修改譜 (鋼琴介面)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缺點: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沒有簡譜輸出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56559" y="1047750"/>
            <a:ext cx="10384895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5"/>
              </a:lnSpc>
            </a:pPr>
            <a:r>
              <a:rPr lang="en-US" sz="75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相關類似軟體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5880" y="3041753"/>
            <a:ext cx="4780547" cy="66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MuseScore Studio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91672" y="3929302"/>
            <a:ext cx="6628120" cy="493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特點: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MIDI -&gt; 樂譜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自行增修譜(介面五線譜)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完全免費</a:t>
            </a:r>
          </a:p>
          <a:p>
            <a:pPr algn="just">
              <a:lnSpc>
                <a:spcPts val="4899"/>
              </a:lnSpc>
            </a:pP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缺點: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不會做五線譜的人不會修改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050826" y="7034832"/>
            <a:ext cx="8876884" cy="6504335"/>
          </a:xfrm>
          <a:custGeom>
            <a:avLst/>
            <a:gdLst/>
            <a:ahLst/>
            <a:cxnLst/>
            <a:rect r="r" b="b" t="t" l="l"/>
            <a:pathLst>
              <a:path h="6504335" w="8876884">
                <a:moveTo>
                  <a:pt x="0" y="0"/>
                </a:moveTo>
                <a:lnTo>
                  <a:pt x="8876884" y="0"/>
                </a:lnTo>
                <a:lnTo>
                  <a:pt x="8876884" y="6504336"/>
                </a:lnTo>
                <a:lnTo>
                  <a:pt x="0" y="65043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20887" y="1685848"/>
            <a:ext cx="15471470" cy="7909789"/>
          </a:xfrm>
          <a:custGeom>
            <a:avLst/>
            <a:gdLst/>
            <a:ahLst/>
            <a:cxnLst/>
            <a:rect r="r" b="b" t="t" l="l"/>
            <a:pathLst>
              <a:path h="7909789" w="15471470">
                <a:moveTo>
                  <a:pt x="0" y="0"/>
                </a:moveTo>
                <a:lnTo>
                  <a:pt x="15471470" y="0"/>
                </a:lnTo>
                <a:lnTo>
                  <a:pt x="15471470" y="7909789"/>
                </a:lnTo>
                <a:lnTo>
                  <a:pt x="0" y="79097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105596" y="1529485"/>
            <a:ext cx="12768481" cy="8222514"/>
            <a:chOff x="0" y="0"/>
            <a:chExt cx="3362892" cy="216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62892" cy="2165601"/>
            </a:xfrm>
            <a:custGeom>
              <a:avLst/>
              <a:gdLst/>
              <a:ahLst/>
              <a:cxnLst/>
              <a:rect r="r" b="b" t="t" l="l"/>
              <a:pathLst>
                <a:path h="2165601" w="3362892">
                  <a:moveTo>
                    <a:pt x="0" y="0"/>
                  </a:moveTo>
                  <a:lnTo>
                    <a:pt x="3362892" y="0"/>
                  </a:lnTo>
                  <a:lnTo>
                    <a:pt x="3362892" y="2165601"/>
                  </a:lnTo>
                  <a:lnTo>
                    <a:pt x="0" y="2165601"/>
                  </a:lnTo>
                  <a:close/>
                </a:path>
              </a:pathLst>
            </a:custGeom>
            <a:ln w="15240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62892" cy="220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857478" y="5094006"/>
            <a:ext cx="5264718" cy="97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9"/>
              </a:lnSpc>
              <a:spcBef>
                <a:spcPct val="0"/>
              </a:spcBef>
            </a:pPr>
            <a:r>
              <a:rPr lang="en-US" b="true" sz="5699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修改音符區塊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98464" y="249172"/>
            <a:ext cx="15093264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5"/>
              </a:lnSpc>
            </a:pPr>
            <a:r>
              <a:rPr lang="en-US" sz="75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Anthemscore介面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8797" y="1890859"/>
            <a:ext cx="16750406" cy="8396141"/>
          </a:xfrm>
          <a:custGeom>
            <a:avLst/>
            <a:gdLst/>
            <a:ahLst/>
            <a:cxnLst/>
            <a:rect r="r" b="b" t="t" l="l"/>
            <a:pathLst>
              <a:path h="8396141" w="16750406">
                <a:moveTo>
                  <a:pt x="0" y="0"/>
                </a:moveTo>
                <a:lnTo>
                  <a:pt x="16750406" y="0"/>
                </a:lnTo>
                <a:lnTo>
                  <a:pt x="16750406" y="8396141"/>
                </a:lnTo>
                <a:lnTo>
                  <a:pt x="0" y="83961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7106" y="457200"/>
            <a:ext cx="1890592" cy="1890592"/>
          </a:xfrm>
          <a:custGeom>
            <a:avLst/>
            <a:gdLst/>
            <a:ahLst/>
            <a:cxnLst/>
            <a:rect r="r" b="b" t="t" l="l"/>
            <a:pathLst>
              <a:path h="1890592" w="1890592">
                <a:moveTo>
                  <a:pt x="0" y="0"/>
                </a:moveTo>
                <a:lnTo>
                  <a:pt x="1890592" y="0"/>
                </a:lnTo>
                <a:lnTo>
                  <a:pt x="1890592" y="1890592"/>
                </a:lnTo>
                <a:lnTo>
                  <a:pt x="0" y="18905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85842" y="476250"/>
            <a:ext cx="15093264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5"/>
              </a:lnSpc>
            </a:pPr>
            <a:r>
              <a:rPr lang="en-US" sz="75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museScore介面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2304" y="3492626"/>
            <a:ext cx="17583391" cy="316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1"/>
              </a:lnSpc>
            </a:pPr>
          </a:p>
          <a:p>
            <a:pPr algn="l">
              <a:lnSpc>
                <a:spcPts val="6341"/>
              </a:lnSpc>
            </a:pPr>
            <a:r>
              <a:rPr lang="en-US" sz="4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因此，我們希望開發一套低成本、高效率的自動化系統，</a:t>
            </a:r>
            <a:r>
              <a:rPr lang="en-US" sz="4199">
                <a:solidFill>
                  <a:srgbClr val="C00302"/>
                </a:solidFill>
                <a:latin typeface="芫荽"/>
                <a:ea typeface="芫荽"/>
                <a:cs typeface="芫荽"/>
                <a:sym typeface="芫荽"/>
              </a:rPr>
              <a:t>讓使用者能付出更少的</a:t>
            </a:r>
            <a:r>
              <a:rPr lang="en-US" sz="4199">
                <a:solidFill>
                  <a:srgbClr val="C00302"/>
                </a:solidFill>
                <a:latin typeface="芫荽"/>
                <a:ea typeface="芫荽"/>
                <a:cs typeface="芫荽"/>
                <a:sym typeface="芫荽"/>
              </a:rPr>
              <a:t>金錢與時間成本產出簡譜，利用AI達到省錢省時間的成品效益</a:t>
            </a:r>
            <a:r>
              <a:rPr lang="en-US" sz="4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。</a:t>
            </a:r>
          </a:p>
          <a:p>
            <a:pPr algn="l">
              <a:lnSpc>
                <a:spcPts val="634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97709" y="623084"/>
            <a:ext cx="7043890" cy="11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9"/>
              </a:lnSpc>
            </a:pPr>
            <a:r>
              <a:rPr lang="en-US" sz="79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研究目標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7709" y="623084"/>
            <a:ext cx="7043890" cy="11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9"/>
              </a:lnSpc>
            </a:pPr>
            <a:r>
              <a:rPr lang="en-US" sz="79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研究方式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6759" y="2630985"/>
            <a:ext cx="17583391" cy="716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1"/>
              </a:lnSpc>
            </a:pPr>
            <a:r>
              <a:rPr lang="en-US" sz="4199">
                <a:solidFill>
                  <a:srgbClr val="7D332C"/>
                </a:solidFill>
                <a:latin typeface="芫荽"/>
                <a:ea typeface="芫荽"/>
                <a:cs typeface="芫荽"/>
                <a:sym typeface="芫荽"/>
              </a:rPr>
              <a:t>建構自動化轉譯平台：</a:t>
            </a:r>
          </a:p>
          <a:p>
            <a:pPr algn="l">
              <a:lnSpc>
                <a:spcPts val="6341"/>
              </a:lnSpc>
            </a:pPr>
            <a:r>
              <a:rPr lang="en-US" sz="4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開發 Web 系統，支援 MP3/WAV上傳</a:t>
            </a:r>
            <a:r>
              <a:rPr lang="en-US" sz="4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，一鍵執行音源分離與 MIDI 轉譯。</a:t>
            </a:r>
          </a:p>
          <a:p>
            <a:pPr algn="l">
              <a:lnSpc>
                <a:spcPts val="6341"/>
              </a:lnSpc>
            </a:pPr>
          </a:p>
          <a:p>
            <a:pPr algn="l">
              <a:lnSpc>
                <a:spcPts val="6341"/>
              </a:lnSpc>
            </a:pPr>
            <a:r>
              <a:rPr lang="en-US" sz="4199">
                <a:solidFill>
                  <a:srgbClr val="7D332C"/>
                </a:solidFill>
                <a:latin typeface="芫荽"/>
                <a:ea typeface="芫荽"/>
                <a:cs typeface="芫荽"/>
                <a:sym typeface="芫荽"/>
              </a:rPr>
              <a:t>實作視覺化微調機制：</a:t>
            </a:r>
          </a:p>
          <a:p>
            <a:pPr algn="l">
              <a:lnSpc>
                <a:spcPts val="6341"/>
              </a:lnSpc>
            </a:pPr>
            <a:r>
              <a:rPr lang="en-US" sz="4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提供線上編輯介面，允許使用者修正 AI 轉譯之音高與節奏誤差。</a:t>
            </a:r>
          </a:p>
          <a:p>
            <a:pPr algn="l">
              <a:lnSpc>
                <a:spcPts val="6341"/>
              </a:lnSpc>
            </a:pPr>
          </a:p>
          <a:p>
            <a:pPr algn="l">
              <a:lnSpc>
                <a:spcPts val="6341"/>
              </a:lnSpc>
            </a:pPr>
            <a:r>
              <a:rPr lang="en-US" sz="4199">
                <a:solidFill>
                  <a:srgbClr val="7D332C"/>
                </a:solidFill>
                <a:latin typeface="芫荽"/>
                <a:ea typeface="芫荽"/>
                <a:cs typeface="芫荽"/>
                <a:sym typeface="芫荽"/>
              </a:rPr>
              <a:t>輸出印刷級數字簡譜：</a:t>
            </a:r>
          </a:p>
          <a:p>
            <a:pPr algn="l">
              <a:lnSpc>
                <a:spcPts val="6341"/>
              </a:lnSpc>
            </a:pPr>
            <a:r>
              <a:rPr lang="en-US" sz="4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自動化串接 MuseScore </a:t>
            </a:r>
            <a:r>
              <a:rPr lang="en-US" sz="4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與 LilyPond，產出標準排版之 PDF 簡譜。</a:t>
            </a:r>
          </a:p>
          <a:p>
            <a:pPr algn="l">
              <a:lnSpc>
                <a:spcPts val="634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8117" y="168303"/>
            <a:ext cx="18566117" cy="10399692"/>
          </a:xfrm>
          <a:custGeom>
            <a:avLst/>
            <a:gdLst/>
            <a:ahLst/>
            <a:cxnLst/>
            <a:rect r="r" b="b" t="t" l="l"/>
            <a:pathLst>
              <a:path h="10399692" w="18566117">
                <a:moveTo>
                  <a:pt x="0" y="0"/>
                </a:moveTo>
                <a:lnTo>
                  <a:pt x="18566117" y="0"/>
                </a:lnTo>
                <a:lnTo>
                  <a:pt x="18566117" y="10399692"/>
                </a:lnTo>
                <a:lnTo>
                  <a:pt x="0" y="10399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51" t="-88893" r="-3110" b="-9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74913" y="4025258"/>
            <a:ext cx="11338174" cy="200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9"/>
              </a:lnSpc>
              <a:spcBef>
                <a:spcPct val="0"/>
              </a:spcBef>
            </a:pPr>
            <a:r>
              <a:rPr lang="en-US" sz="116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系統設計與架構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764925"/>
            <a:ext cx="897787" cy="403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3"/>
              </a:lnSpc>
            </a:pPr>
            <a:r>
              <a:rPr lang="en-US" sz="59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系統架構圖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345040" y="0"/>
            <a:ext cx="11407579" cy="10287000"/>
            <a:chOff x="0" y="0"/>
            <a:chExt cx="15210106" cy="13716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873670" cy="13716000"/>
              <a:chOff x="0" y="0"/>
              <a:chExt cx="1261194" cy="354938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61194" cy="3549386"/>
              </a:xfrm>
              <a:custGeom>
                <a:avLst/>
                <a:gdLst/>
                <a:ahLst/>
                <a:cxnLst/>
                <a:rect r="r" b="b" t="t" l="l"/>
                <a:pathLst>
                  <a:path h="3549386" w="1261194">
                    <a:moveTo>
                      <a:pt x="0" y="0"/>
                    </a:moveTo>
                    <a:lnTo>
                      <a:pt x="1261194" y="0"/>
                    </a:lnTo>
                    <a:lnTo>
                      <a:pt x="1261194" y="3549386"/>
                    </a:lnTo>
                    <a:lnTo>
                      <a:pt x="0" y="3549386"/>
                    </a:lnTo>
                    <a:close/>
                  </a:path>
                </a:pathLst>
              </a:custGeom>
              <a:solidFill>
                <a:srgbClr val="D4DF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1261194" cy="3577961"/>
              </a:xfrm>
              <a:prstGeom prst="rect">
                <a:avLst/>
              </a:prstGeom>
            </p:spPr>
            <p:txBody>
              <a:bodyPr anchor="ctr" rtlCol="false" tIns="33737" lIns="33737" bIns="33737" rIns="33737"/>
              <a:lstStyle/>
              <a:p>
                <a:pPr algn="l">
                  <a:lnSpc>
                    <a:spcPts val="1437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520127" y="2442411"/>
              <a:ext cx="3833416" cy="1774092"/>
              <a:chOff x="0" y="0"/>
              <a:chExt cx="992000" cy="4590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92000" cy="459094"/>
              </a:xfrm>
              <a:custGeom>
                <a:avLst/>
                <a:gdLst/>
                <a:ahLst/>
                <a:cxnLst/>
                <a:rect r="r" b="b" t="t" l="l"/>
                <a:pathLst>
                  <a:path h="459094" w="992000">
                    <a:moveTo>
                      <a:pt x="55498" y="0"/>
                    </a:moveTo>
                    <a:lnTo>
                      <a:pt x="936503" y="0"/>
                    </a:lnTo>
                    <a:cubicBezTo>
                      <a:pt x="967153" y="0"/>
                      <a:pt x="992000" y="24847"/>
                      <a:pt x="992000" y="55498"/>
                    </a:cubicBezTo>
                    <a:lnTo>
                      <a:pt x="992000" y="403597"/>
                    </a:lnTo>
                    <a:cubicBezTo>
                      <a:pt x="992000" y="434247"/>
                      <a:pt x="967153" y="459094"/>
                      <a:pt x="936503" y="459094"/>
                    </a:cubicBezTo>
                    <a:lnTo>
                      <a:pt x="55498" y="459094"/>
                    </a:lnTo>
                    <a:cubicBezTo>
                      <a:pt x="24847" y="459094"/>
                      <a:pt x="0" y="434247"/>
                      <a:pt x="0" y="403597"/>
                    </a:cubicBezTo>
                    <a:lnTo>
                      <a:pt x="0" y="55498"/>
                    </a:lnTo>
                    <a:cubicBezTo>
                      <a:pt x="0" y="24847"/>
                      <a:pt x="24847" y="0"/>
                      <a:pt x="554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992000" cy="4876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1437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753588" y="2642674"/>
              <a:ext cx="1395627" cy="452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5"/>
                </a:lnSpc>
              </a:pPr>
              <a:r>
                <a:rPr lang="en-US" sz="206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上傳頁面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751731" y="3272849"/>
              <a:ext cx="3370209" cy="695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64"/>
                </a:lnSpc>
              </a:pPr>
              <a:r>
                <a:rPr lang="en-US" sz="1545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提供 MP3/WAV 上傳</a:t>
              </a:r>
            </a:p>
            <a:p>
              <a:pPr algn="just">
                <a:lnSpc>
                  <a:spcPts val="2164"/>
                </a:lnSpc>
              </a:pPr>
              <a:r>
                <a:rPr lang="en-US" sz="1545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與人聲分離 (Demucs) 選項。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516938" y="5018094"/>
              <a:ext cx="3833416" cy="2723042"/>
              <a:chOff x="0" y="0"/>
              <a:chExt cx="992000" cy="70466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92000" cy="704661"/>
              </a:xfrm>
              <a:custGeom>
                <a:avLst/>
                <a:gdLst/>
                <a:ahLst/>
                <a:cxnLst/>
                <a:rect r="r" b="b" t="t" l="l"/>
                <a:pathLst>
                  <a:path h="704661" w="992000">
                    <a:moveTo>
                      <a:pt x="55498" y="0"/>
                    </a:moveTo>
                    <a:lnTo>
                      <a:pt x="936503" y="0"/>
                    </a:lnTo>
                    <a:cubicBezTo>
                      <a:pt x="967153" y="0"/>
                      <a:pt x="992000" y="24847"/>
                      <a:pt x="992000" y="55498"/>
                    </a:cubicBezTo>
                    <a:lnTo>
                      <a:pt x="992000" y="649163"/>
                    </a:lnTo>
                    <a:cubicBezTo>
                      <a:pt x="992000" y="679814"/>
                      <a:pt x="967153" y="704661"/>
                      <a:pt x="936503" y="704661"/>
                    </a:cubicBezTo>
                    <a:lnTo>
                      <a:pt x="55498" y="704661"/>
                    </a:lnTo>
                    <a:cubicBezTo>
                      <a:pt x="24847" y="704661"/>
                      <a:pt x="0" y="679814"/>
                      <a:pt x="0" y="649163"/>
                    </a:cubicBezTo>
                    <a:lnTo>
                      <a:pt x="0" y="55498"/>
                    </a:lnTo>
                    <a:cubicBezTo>
                      <a:pt x="0" y="24847"/>
                      <a:pt x="24847" y="0"/>
                      <a:pt x="554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992000" cy="7332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37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750399" y="5218357"/>
              <a:ext cx="2600599" cy="926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85"/>
                </a:lnSpc>
              </a:pPr>
              <a:r>
                <a:rPr lang="en-US" sz="206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鋼琴捲軸編輯器</a:t>
              </a:r>
            </a:p>
            <a:p>
              <a:pPr algn="just">
                <a:lnSpc>
                  <a:spcPts val="2885"/>
                </a:lnSpc>
              </a:pPr>
              <a:r>
                <a:rPr lang="en-US" sz="206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(Piano roll)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48541" y="6399212"/>
              <a:ext cx="3370209" cy="1055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64"/>
                </a:lnSpc>
              </a:pPr>
              <a:r>
                <a:rPr lang="en-US" sz="1545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基於 Canvas 的音符視覺化介面，支援音符增刪、音高與長度調整。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520127" y="8542727"/>
              <a:ext cx="3833416" cy="1939954"/>
              <a:chOff x="0" y="0"/>
              <a:chExt cx="992000" cy="50201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92000" cy="502016"/>
              </a:xfrm>
              <a:custGeom>
                <a:avLst/>
                <a:gdLst/>
                <a:ahLst/>
                <a:cxnLst/>
                <a:rect r="r" b="b" t="t" l="l"/>
                <a:pathLst>
                  <a:path h="502016" w="992000">
                    <a:moveTo>
                      <a:pt x="55498" y="0"/>
                    </a:moveTo>
                    <a:lnTo>
                      <a:pt x="936503" y="0"/>
                    </a:lnTo>
                    <a:cubicBezTo>
                      <a:pt x="967153" y="0"/>
                      <a:pt x="992000" y="24847"/>
                      <a:pt x="992000" y="55498"/>
                    </a:cubicBezTo>
                    <a:lnTo>
                      <a:pt x="992000" y="446518"/>
                    </a:lnTo>
                    <a:cubicBezTo>
                      <a:pt x="992000" y="477169"/>
                      <a:pt x="967153" y="502016"/>
                      <a:pt x="936503" y="502016"/>
                    </a:cubicBezTo>
                    <a:lnTo>
                      <a:pt x="55498" y="502016"/>
                    </a:lnTo>
                    <a:cubicBezTo>
                      <a:pt x="24847" y="502016"/>
                      <a:pt x="0" y="477169"/>
                      <a:pt x="0" y="446518"/>
                    </a:cubicBezTo>
                    <a:lnTo>
                      <a:pt x="0" y="55498"/>
                    </a:lnTo>
                    <a:cubicBezTo>
                      <a:pt x="0" y="24847"/>
                      <a:pt x="24847" y="0"/>
                      <a:pt x="554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992000" cy="530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37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753588" y="8796563"/>
              <a:ext cx="2242262" cy="452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85"/>
                </a:lnSpc>
              </a:pPr>
              <a:r>
                <a:rPr lang="en-US" sz="206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結果展示頁面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751731" y="9485454"/>
              <a:ext cx="3370209" cy="695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4"/>
                </a:lnSpc>
              </a:pPr>
              <a:r>
                <a:rPr lang="en-US" sz="1545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提供單音 MIDI 下載連結與 PDF 簡譜內嵌預覽。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5117503" y="0"/>
              <a:ext cx="4873670" cy="13716000"/>
              <a:chOff x="0" y="0"/>
              <a:chExt cx="1261194" cy="354938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61194" cy="3549386"/>
              </a:xfrm>
              <a:custGeom>
                <a:avLst/>
                <a:gdLst/>
                <a:ahLst/>
                <a:cxnLst/>
                <a:rect r="r" b="b" t="t" l="l"/>
                <a:pathLst>
                  <a:path h="3549386" w="1261194">
                    <a:moveTo>
                      <a:pt x="0" y="0"/>
                    </a:moveTo>
                    <a:lnTo>
                      <a:pt x="1261194" y="0"/>
                    </a:lnTo>
                    <a:lnTo>
                      <a:pt x="1261194" y="3549386"/>
                    </a:lnTo>
                    <a:lnTo>
                      <a:pt x="0" y="3549386"/>
                    </a:lnTo>
                    <a:close/>
                  </a:path>
                </a:pathLst>
              </a:custGeom>
              <a:solidFill>
                <a:srgbClr val="DBE6DA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1261194" cy="3577961"/>
              </a:xfrm>
              <a:prstGeom prst="rect">
                <a:avLst/>
              </a:prstGeom>
            </p:spPr>
            <p:txBody>
              <a:bodyPr anchor="ctr" rtlCol="false" tIns="33737" lIns="33737" bIns="33737" rIns="33737"/>
              <a:lstStyle/>
              <a:p>
                <a:pPr algn="l">
                  <a:lnSpc>
                    <a:spcPts val="1437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5688431" y="2442411"/>
              <a:ext cx="3833416" cy="1862096"/>
              <a:chOff x="0" y="0"/>
              <a:chExt cx="992000" cy="48186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92000" cy="481868"/>
              </a:xfrm>
              <a:custGeom>
                <a:avLst/>
                <a:gdLst/>
                <a:ahLst/>
                <a:cxnLst/>
                <a:rect r="r" b="b" t="t" l="l"/>
                <a:pathLst>
                  <a:path h="481868" w="992000">
                    <a:moveTo>
                      <a:pt x="55498" y="0"/>
                    </a:moveTo>
                    <a:lnTo>
                      <a:pt x="936503" y="0"/>
                    </a:lnTo>
                    <a:cubicBezTo>
                      <a:pt x="967153" y="0"/>
                      <a:pt x="992000" y="24847"/>
                      <a:pt x="992000" y="55498"/>
                    </a:cubicBezTo>
                    <a:lnTo>
                      <a:pt x="992000" y="426370"/>
                    </a:lnTo>
                    <a:cubicBezTo>
                      <a:pt x="992000" y="457021"/>
                      <a:pt x="967153" y="481868"/>
                      <a:pt x="936503" y="481868"/>
                    </a:cubicBezTo>
                    <a:lnTo>
                      <a:pt x="55498" y="481868"/>
                    </a:lnTo>
                    <a:cubicBezTo>
                      <a:pt x="24847" y="481868"/>
                      <a:pt x="0" y="457021"/>
                      <a:pt x="0" y="426370"/>
                    </a:cubicBezTo>
                    <a:lnTo>
                      <a:pt x="0" y="55498"/>
                    </a:lnTo>
                    <a:cubicBezTo>
                      <a:pt x="0" y="24847"/>
                      <a:pt x="24847" y="0"/>
                      <a:pt x="554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992000" cy="5104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37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5921892" y="2642674"/>
              <a:ext cx="3599955" cy="452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5"/>
                </a:lnSpc>
              </a:pPr>
              <a:r>
                <a:rPr lang="en-US" sz="206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後端流程控制（Flask）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920034" y="3408736"/>
              <a:ext cx="3370209" cy="695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4"/>
                </a:lnSpc>
              </a:pPr>
              <a:r>
                <a:rPr lang="en-US" sz="1545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協調前端編輯器與後端資料的即時同步。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5688345" y="4961945"/>
              <a:ext cx="3833416" cy="1315630"/>
              <a:chOff x="0" y="0"/>
              <a:chExt cx="992000" cy="34045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92000" cy="340455"/>
              </a:xfrm>
              <a:custGeom>
                <a:avLst/>
                <a:gdLst/>
                <a:ahLst/>
                <a:cxnLst/>
                <a:rect r="r" b="b" t="t" l="l"/>
                <a:pathLst>
                  <a:path h="340455" w="992000">
                    <a:moveTo>
                      <a:pt x="55498" y="0"/>
                    </a:moveTo>
                    <a:lnTo>
                      <a:pt x="936503" y="0"/>
                    </a:lnTo>
                    <a:cubicBezTo>
                      <a:pt x="967153" y="0"/>
                      <a:pt x="992000" y="24847"/>
                      <a:pt x="992000" y="55498"/>
                    </a:cubicBezTo>
                    <a:lnTo>
                      <a:pt x="992000" y="284957"/>
                    </a:lnTo>
                    <a:cubicBezTo>
                      <a:pt x="992000" y="315608"/>
                      <a:pt x="967153" y="340455"/>
                      <a:pt x="936503" y="340455"/>
                    </a:cubicBezTo>
                    <a:lnTo>
                      <a:pt x="55498" y="340455"/>
                    </a:lnTo>
                    <a:cubicBezTo>
                      <a:pt x="24847" y="340455"/>
                      <a:pt x="0" y="315608"/>
                      <a:pt x="0" y="284957"/>
                    </a:cubicBezTo>
                    <a:lnTo>
                      <a:pt x="0" y="55498"/>
                    </a:lnTo>
                    <a:cubicBezTo>
                      <a:pt x="0" y="24847"/>
                      <a:pt x="24847" y="0"/>
                      <a:pt x="554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28575"/>
                <a:ext cx="992000" cy="369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37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5921806" y="5162208"/>
              <a:ext cx="3164372" cy="452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5"/>
                </a:lnSpc>
              </a:pPr>
              <a:r>
                <a:rPr lang="en-US" sz="206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單音化邏輯處理模組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5921806" y="5803967"/>
              <a:ext cx="3370209" cy="335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4"/>
                </a:lnSpc>
              </a:pPr>
              <a:r>
                <a:rPr lang="en-US" sz="1545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本系統核心演算法。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5688345" y="7079166"/>
              <a:ext cx="3833416" cy="2035170"/>
              <a:chOff x="0" y="0"/>
              <a:chExt cx="992000" cy="526655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992000" cy="526655"/>
              </a:xfrm>
              <a:custGeom>
                <a:avLst/>
                <a:gdLst/>
                <a:ahLst/>
                <a:cxnLst/>
                <a:rect r="r" b="b" t="t" l="l"/>
                <a:pathLst>
                  <a:path h="526655" w="992000">
                    <a:moveTo>
                      <a:pt x="55498" y="0"/>
                    </a:moveTo>
                    <a:lnTo>
                      <a:pt x="936503" y="0"/>
                    </a:lnTo>
                    <a:cubicBezTo>
                      <a:pt x="967153" y="0"/>
                      <a:pt x="992000" y="24847"/>
                      <a:pt x="992000" y="55498"/>
                    </a:cubicBezTo>
                    <a:lnTo>
                      <a:pt x="992000" y="471158"/>
                    </a:lnTo>
                    <a:cubicBezTo>
                      <a:pt x="992000" y="485877"/>
                      <a:pt x="986153" y="499993"/>
                      <a:pt x="975745" y="510401"/>
                    </a:cubicBezTo>
                    <a:cubicBezTo>
                      <a:pt x="965338" y="520808"/>
                      <a:pt x="951222" y="526655"/>
                      <a:pt x="936503" y="526655"/>
                    </a:cubicBezTo>
                    <a:lnTo>
                      <a:pt x="55498" y="526655"/>
                    </a:lnTo>
                    <a:cubicBezTo>
                      <a:pt x="24847" y="526655"/>
                      <a:pt x="0" y="501808"/>
                      <a:pt x="0" y="471158"/>
                    </a:cubicBezTo>
                    <a:lnTo>
                      <a:pt x="0" y="55498"/>
                    </a:lnTo>
                    <a:cubicBezTo>
                      <a:pt x="0" y="24847"/>
                      <a:pt x="24847" y="0"/>
                      <a:pt x="554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28575"/>
                <a:ext cx="992000" cy="5552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37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5921806" y="7279429"/>
              <a:ext cx="2797017" cy="452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5"/>
                </a:lnSpc>
              </a:pPr>
              <a:r>
                <a:rPr lang="en-US" sz="206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檔案管理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5921806" y="7921188"/>
              <a:ext cx="3370209" cy="1055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4"/>
                </a:lnSpc>
              </a:pPr>
              <a:r>
                <a:rPr lang="en-US" sz="1545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管理從上傳至輸出過程中產生的所有中間格式（如 JSON、XML、.ly 等）。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10336436" y="0"/>
              <a:ext cx="4873670" cy="13716000"/>
              <a:chOff x="0" y="0"/>
              <a:chExt cx="1261194" cy="3549386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261194" cy="3549386"/>
              </a:xfrm>
              <a:custGeom>
                <a:avLst/>
                <a:gdLst/>
                <a:ahLst/>
                <a:cxnLst/>
                <a:rect r="r" b="b" t="t" l="l"/>
                <a:pathLst>
                  <a:path h="3549386" w="1261194">
                    <a:moveTo>
                      <a:pt x="0" y="0"/>
                    </a:moveTo>
                    <a:lnTo>
                      <a:pt x="1261194" y="0"/>
                    </a:lnTo>
                    <a:lnTo>
                      <a:pt x="1261194" y="3549386"/>
                    </a:lnTo>
                    <a:lnTo>
                      <a:pt x="0" y="3549386"/>
                    </a:lnTo>
                    <a:close/>
                  </a:path>
                </a:pathLst>
              </a:custGeom>
              <a:solidFill>
                <a:srgbClr val="F5DDC6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28575"/>
                <a:ext cx="1261194" cy="3577961"/>
              </a:xfrm>
              <a:prstGeom prst="rect">
                <a:avLst/>
              </a:prstGeom>
            </p:spPr>
            <p:txBody>
              <a:bodyPr anchor="ctr" rtlCol="false" tIns="33737" lIns="33737" bIns="33737" rIns="33737"/>
              <a:lstStyle/>
              <a:p>
                <a:pPr algn="l">
                  <a:lnSpc>
                    <a:spcPts val="1437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0859924" y="2442411"/>
              <a:ext cx="3833416" cy="1784246"/>
              <a:chOff x="0" y="0"/>
              <a:chExt cx="992000" cy="46172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992000" cy="461722"/>
              </a:xfrm>
              <a:custGeom>
                <a:avLst/>
                <a:gdLst/>
                <a:ahLst/>
                <a:cxnLst/>
                <a:rect r="r" b="b" t="t" l="l"/>
                <a:pathLst>
                  <a:path h="461722" w="992000">
                    <a:moveTo>
                      <a:pt x="55498" y="0"/>
                    </a:moveTo>
                    <a:lnTo>
                      <a:pt x="936503" y="0"/>
                    </a:lnTo>
                    <a:cubicBezTo>
                      <a:pt x="967153" y="0"/>
                      <a:pt x="992000" y="24847"/>
                      <a:pt x="992000" y="55498"/>
                    </a:cubicBezTo>
                    <a:lnTo>
                      <a:pt x="992000" y="406224"/>
                    </a:lnTo>
                    <a:cubicBezTo>
                      <a:pt x="992000" y="436875"/>
                      <a:pt x="967153" y="461722"/>
                      <a:pt x="936503" y="461722"/>
                    </a:cubicBezTo>
                    <a:lnTo>
                      <a:pt x="55498" y="461722"/>
                    </a:lnTo>
                    <a:cubicBezTo>
                      <a:pt x="24847" y="461722"/>
                      <a:pt x="0" y="436875"/>
                      <a:pt x="0" y="406224"/>
                    </a:cubicBezTo>
                    <a:lnTo>
                      <a:pt x="0" y="55498"/>
                    </a:lnTo>
                    <a:cubicBezTo>
                      <a:pt x="0" y="24847"/>
                      <a:pt x="24847" y="0"/>
                      <a:pt x="554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28575"/>
                <a:ext cx="992000" cy="490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37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11093385" y="2642674"/>
              <a:ext cx="2520800" cy="452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5"/>
                </a:lnSpc>
              </a:pPr>
              <a:r>
                <a:rPr lang="en-US" sz="206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音訊處理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1093385" y="3312507"/>
              <a:ext cx="3370209" cy="695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4"/>
                </a:lnSpc>
              </a:pPr>
              <a:r>
                <a:rPr lang="en-US" sz="1545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將複雜音訊轉化為初步音符資料。Demucs/Basic-Pitch</a:t>
              </a:r>
            </a:p>
          </p:txBody>
        </p:sp>
        <p:grpSp>
          <p:nvGrpSpPr>
            <p:cNvPr name="Group 51" id="51"/>
            <p:cNvGrpSpPr/>
            <p:nvPr/>
          </p:nvGrpSpPr>
          <p:grpSpPr>
            <a:xfrm rot="0">
              <a:off x="10859924" y="5028248"/>
              <a:ext cx="3833416" cy="2394941"/>
              <a:chOff x="0" y="0"/>
              <a:chExt cx="992000" cy="61975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92000" cy="619756"/>
              </a:xfrm>
              <a:custGeom>
                <a:avLst/>
                <a:gdLst/>
                <a:ahLst/>
                <a:cxnLst/>
                <a:rect r="r" b="b" t="t" l="l"/>
                <a:pathLst>
                  <a:path h="619756" w="992000">
                    <a:moveTo>
                      <a:pt x="55498" y="0"/>
                    </a:moveTo>
                    <a:lnTo>
                      <a:pt x="936503" y="0"/>
                    </a:lnTo>
                    <a:cubicBezTo>
                      <a:pt x="967153" y="0"/>
                      <a:pt x="992000" y="24847"/>
                      <a:pt x="992000" y="55498"/>
                    </a:cubicBezTo>
                    <a:lnTo>
                      <a:pt x="992000" y="564258"/>
                    </a:lnTo>
                    <a:cubicBezTo>
                      <a:pt x="992000" y="594909"/>
                      <a:pt x="967153" y="619756"/>
                      <a:pt x="936503" y="619756"/>
                    </a:cubicBezTo>
                    <a:lnTo>
                      <a:pt x="55498" y="619756"/>
                    </a:lnTo>
                    <a:cubicBezTo>
                      <a:pt x="24847" y="619756"/>
                      <a:pt x="0" y="594909"/>
                      <a:pt x="0" y="564258"/>
                    </a:cubicBezTo>
                    <a:lnTo>
                      <a:pt x="0" y="55498"/>
                    </a:lnTo>
                    <a:cubicBezTo>
                      <a:pt x="0" y="24847"/>
                      <a:pt x="24847" y="0"/>
                      <a:pt x="554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28575"/>
                <a:ext cx="992000" cy="6483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37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11093385" y="5228511"/>
              <a:ext cx="3164372" cy="452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5"/>
                </a:lnSpc>
              </a:pPr>
              <a:r>
                <a:rPr lang="en-US" sz="206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符譜轉換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11093385" y="5870270"/>
              <a:ext cx="3370209" cy="1415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33726" indent="-166863" lvl="1">
                <a:lnSpc>
                  <a:spcPts val="2164"/>
                </a:lnSpc>
                <a:buFont typeface="Arial"/>
                <a:buChar char="•"/>
              </a:pPr>
              <a:r>
                <a:rPr lang="en-US" sz="1545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 MuseScore 4 → MusicXML。 </a:t>
              </a:r>
            </a:p>
            <a:p>
              <a:pPr algn="l" marL="333726" indent="-166863" lvl="1">
                <a:lnSpc>
                  <a:spcPts val="2164"/>
                </a:lnSpc>
                <a:buFont typeface="Arial"/>
                <a:buChar char="•"/>
              </a:pPr>
              <a:r>
                <a:rPr lang="en-US" sz="1545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利用 jianpu-ly 將樂譜資料轉為簡譜排版語法。</a:t>
              </a:r>
            </a:p>
          </p:txBody>
        </p:sp>
        <p:grpSp>
          <p:nvGrpSpPr>
            <p:cNvPr name="Group 56" id="56"/>
            <p:cNvGrpSpPr/>
            <p:nvPr/>
          </p:nvGrpSpPr>
          <p:grpSpPr>
            <a:xfrm rot="0">
              <a:off x="10856563" y="8224780"/>
              <a:ext cx="3833416" cy="1675400"/>
              <a:chOff x="0" y="0"/>
              <a:chExt cx="992000" cy="433555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992000" cy="433555"/>
              </a:xfrm>
              <a:custGeom>
                <a:avLst/>
                <a:gdLst/>
                <a:ahLst/>
                <a:cxnLst/>
                <a:rect r="r" b="b" t="t" l="l"/>
                <a:pathLst>
                  <a:path h="433555" w="992000">
                    <a:moveTo>
                      <a:pt x="55498" y="0"/>
                    </a:moveTo>
                    <a:lnTo>
                      <a:pt x="936503" y="0"/>
                    </a:lnTo>
                    <a:cubicBezTo>
                      <a:pt x="967153" y="0"/>
                      <a:pt x="992000" y="24847"/>
                      <a:pt x="992000" y="55498"/>
                    </a:cubicBezTo>
                    <a:lnTo>
                      <a:pt x="992000" y="378058"/>
                    </a:lnTo>
                    <a:cubicBezTo>
                      <a:pt x="992000" y="408708"/>
                      <a:pt x="967153" y="433555"/>
                      <a:pt x="936503" y="433555"/>
                    </a:cubicBezTo>
                    <a:lnTo>
                      <a:pt x="55498" y="433555"/>
                    </a:lnTo>
                    <a:cubicBezTo>
                      <a:pt x="24847" y="433555"/>
                      <a:pt x="0" y="408708"/>
                      <a:pt x="0" y="378058"/>
                    </a:cubicBezTo>
                    <a:lnTo>
                      <a:pt x="0" y="55498"/>
                    </a:lnTo>
                    <a:cubicBezTo>
                      <a:pt x="0" y="24847"/>
                      <a:pt x="24847" y="0"/>
                      <a:pt x="554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28575"/>
                <a:ext cx="992000" cy="4621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437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11090024" y="8425042"/>
              <a:ext cx="2797017" cy="452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5"/>
                </a:lnSpc>
              </a:pPr>
              <a:r>
                <a:rPr lang="en-US" sz="206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簡譜輸出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1090024" y="9066801"/>
              <a:ext cx="3370209" cy="695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4"/>
                </a:lnSpc>
              </a:pPr>
              <a:r>
                <a:rPr lang="en-US" sz="1545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使用LilyPond進行樂譜渲染，產出最終的 PDF 文檔</a:t>
              </a:r>
            </a:p>
          </p:txBody>
        </p:sp>
        <p:sp>
          <p:nvSpPr>
            <p:cNvPr name="AutoShape 61" id="61"/>
            <p:cNvSpPr/>
            <p:nvPr/>
          </p:nvSpPr>
          <p:spPr>
            <a:xfrm>
              <a:off x="4354621" y="3334318"/>
              <a:ext cx="1333723" cy="217"/>
            </a:xfrm>
            <a:prstGeom prst="line">
              <a:avLst/>
            </a:prstGeom>
            <a:ln cap="flat" w="3271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2" id="62"/>
            <p:cNvSpPr/>
            <p:nvPr/>
          </p:nvSpPr>
          <p:spPr>
            <a:xfrm flipV="true">
              <a:off x="4354704" y="5871345"/>
              <a:ext cx="1333640" cy="197967"/>
            </a:xfrm>
            <a:prstGeom prst="line">
              <a:avLst/>
            </a:prstGeom>
            <a:ln cap="flat" w="3271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3" id="63"/>
            <p:cNvSpPr/>
            <p:nvPr/>
          </p:nvSpPr>
          <p:spPr>
            <a:xfrm flipV="true">
              <a:off x="9521847" y="2890978"/>
              <a:ext cx="1333640" cy="37639"/>
            </a:xfrm>
            <a:prstGeom prst="line">
              <a:avLst/>
            </a:prstGeom>
            <a:ln cap="flat" w="3271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4" id="64"/>
            <p:cNvSpPr/>
            <p:nvPr/>
          </p:nvSpPr>
          <p:spPr>
            <a:xfrm flipH="true">
              <a:off x="9521847" y="3502790"/>
              <a:ext cx="1338074" cy="88976"/>
            </a:xfrm>
            <a:prstGeom prst="line">
              <a:avLst/>
            </a:prstGeom>
            <a:ln cap="flat" w="3271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5" id="65"/>
            <p:cNvSpPr/>
            <p:nvPr/>
          </p:nvSpPr>
          <p:spPr>
            <a:xfrm flipV="true">
              <a:off x="9514503" y="6225719"/>
              <a:ext cx="1345421" cy="1854674"/>
            </a:xfrm>
            <a:prstGeom prst="line">
              <a:avLst/>
            </a:prstGeom>
            <a:ln cap="flat" w="3271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6" id="66"/>
            <p:cNvSpPr/>
            <p:nvPr/>
          </p:nvSpPr>
          <p:spPr>
            <a:xfrm flipH="true" flipV="true">
              <a:off x="9521761" y="8603649"/>
              <a:ext cx="1338160" cy="475189"/>
            </a:xfrm>
            <a:prstGeom prst="line">
              <a:avLst/>
            </a:prstGeom>
            <a:ln cap="flat" w="3271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7" id="67"/>
            <p:cNvSpPr/>
            <p:nvPr/>
          </p:nvSpPr>
          <p:spPr>
            <a:xfrm flipH="true">
              <a:off x="4350354" y="4032094"/>
              <a:ext cx="1349686" cy="1297940"/>
            </a:xfrm>
            <a:prstGeom prst="line">
              <a:avLst/>
            </a:prstGeom>
            <a:ln cap="flat" w="3271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8" id="68"/>
            <p:cNvSpPr/>
            <p:nvPr/>
          </p:nvSpPr>
          <p:spPr>
            <a:xfrm>
              <a:off x="7605053" y="6277576"/>
              <a:ext cx="0" cy="801591"/>
            </a:xfrm>
            <a:prstGeom prst="line">
              <a:avLst/>
            </a:prstGeom>
            <a:ln cap="flat" w="3271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9" id="69"/>
            <p:cNvSpPr/>
            <p:nvPr/>
          </p:nvSpPr>
          <p:spPr>
            <a:xfrm flipH="true">
              <a:off x="4353543" y="8224780"/>
              <a:ext cx="1334801" cy="1287924"/>
            </a:xfrm>
            <a:prstGeom prst="line">
              <a:avLst/>
            </a:prstGeom>
            <a:ln cap="flat" w="3271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70" id="70"/>
            <p:cNvSpPr/>
            <p:nvPr/>
          </p:nvSpPr>
          <p:spPr>
            <a:xfrm>
              <a:off x="12879981" y="7423189"/>
              <a:ext cx="0" cy="801591"/>
            </a:xfrm>
            <a:prstGeom prst="line">
              <a:avLst/>
            </a:prstGeom>
            <a:ln cap="flat" w="32718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10491672" y="10750848"/>
              <a:ext cx="773019" cy="842602"/>
            </a:xfrm>
            <a:custGeom>
              <a:avLst/>
              <a:gdLst/>
              <a:ahLst/>
              <a:cxnLst/>
              <a:rect r="r" b="b" t="t" l="l"/>
              <a:pathLst>
                <a:path h="842602" w="773019">
                  <a:moveTo>
                    <a:pt x="0" y="0"/>
                  </a:moveTo>
                  <a:lnTo>
                    <a:pt x="773020" y="0"/>
                  </a:lnTo>
                  <a:lnTo>
                    <a:pt x="773020" y="842602"/>
                  </a:lnTo>
                  <a:lnTo>
                    <a:pt x="0" y="84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88590" b="-10047"/>
              </a:stretch>
            </a:blip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11375429" y="10911658"/>
              <a:ext cx="1525563" cy="681791"/>
            </a:xfrm>
            <a:custGeom>
              <a:avLst/>
              <a:gdLst/>
              <a:ahLst/>
              <a:cxnLst/>
              <a:rect r="r" b="b" t="t" l="l"/>
              <a:pathLst>
                <a:path h="681791" w="1525563">
                  <a:moveTo>
                    <a:pt x="0" y="0"/>
                  </a:moveTo>
                  <a:lnTo>
                    <a:pt x="1525563" y="0"/>
                  </a:lnTo>
                  <a:lnTo>
                    <a:pt x="1525563" y="681792"/>
                  </a:lnTo>
                  <a:lnTo>
                    <a:pt x="0" y="68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7641" b="-14105"/>
              </a:stretch>
            </a:blip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13064233" y="10911658"/>
              <a:ext cx="523570" cy="681791"/>
            </a:xfrm>
            <a:custGeom>
              <a:avLst/>
              <a:gdLst/>
              <a:ahLst/>
              <a:cxnLst/>
              <a:rect r="r" b="b" t="t" l="l"/>
              <a:pathLst>
                <a:path h="681791" w="523570">
                  <a:moveTo>
                    <a:pt x="0" y="0"/>
                  </a:moveTo>
                  <a:lnTo>
                    <a:pt x="523570" y="0"/>
                  </a:lnTo>
                  <a:lnTo>
                    <a:pt x="523570" y="681792"/>
                  </a:lnTo>
                  <a:lnTo>
                    <a:pt x="0" y="68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13735677" y="10911658"/>
              <a:ext cx="542957" cy="681791"/>
            </a:xfrm>
            <a:custGeom>
              <a:avLst/>
              <a:gdLst/>
              <a:ahLst/>
              <a:cxnLst/>
              <a:rect r="r" b="b" t="t" l="l"/>
              <a:pathLst>
                <a:path h="681791" w="542957">
                  <a:moveTo>
                    <a:pt x="0" y="0"/>
                  </a:moveTo>
                  <a:lnTo>
                    <a:pt x="542957" y="0"/>
                  </a:lnTo>
                  <a:lnTo>
                    <a:pt x="542957" y="681792"/>
                  </a:lnTo>
                  <a:lnTo>
                    <a:pt x="0" y="68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14429406" y="10939521"/>
              <a:ext cx="632186" cy="626066"/>
            </a:xfrm>
            <a:custGeom>
              <a:avLst/>
              <a:gdLst/>
              <a:ahLst/>
              <a:cxnLst/>
              <a:rect r="r" b="b" t="t" l="l"/>
              <a:pathLst>
                <a:path h="626066" w="632186">
                  <a:moveTo>
                    <a:pt x="0" y="0"/>
                  </a:moveTo>
                  <a:lnTo>
                    <a:pt x="632185" y="0"/>
                  </a:lnTo>
                  <a:lnTo>
                    <a:pt x="632185" y="626066"/>
                  </a:lnTo>
                  <a:lnTo>
                    <a:pt x="0" y="626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78" t="0" r="-1585" b="-1893"/>
              </a:stretch>
            </a:blip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10541263" y="11849488"/>
              <a:ext cx="1375410" cy="604649"/>
            </a:xfrm>
            <a:custGeom>
              <a:avLst/>
              <a:gdLst/>
              <a:ahLst/>
              <a:cxnLst/>
              <a:rect r="r" b="b" t="t" l="l"/>
              <a:pathLst>
                <a:path h="604649" w="1375410">
                  <a:moveTo>
                    <a:pt x="0" y="0"/>
                  </a:moveTo>
                  <a:lnTo>
                    <a:pt x="1375410" y="0"/>
                  </a:lnTo>
                  <a:lnTo>
                    <a:pt x="1375410" y="604648"/>
                  </a:lnTo>
                  <a:lnTo>
                    <a:pt x="0" y="604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12104514" y="11849379"/>
              <a:ext cx="959719" cy="604758"/>
            </a:xfrm>
            <a:custGeom>
              <a:avLst/>
              <a:gdLst/>
              <a:ahLst/>
              <a:cxnLst/>
              <a:rect r="r" b="b" t="t" l="l"/>
              <a:pathLst>
                <a:path h="604758" w="959719">
                  <a:moveTo>
                    <a:pt x="0" y="0"/>
                  </a:moveTo>
                  <a:lnTo>
                    <a:pt x="959719" y="0"/>
                  </a:lnTo>
                  <a:lnTo>
                    <a:pt x="959719" y="604757"/>
                  </a:lnTo>
                  <a:lnTo>
                    <a:pt x="0" y="604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01293" t="0" r="-104807" b="-2820"/>
              </a:stretch>
            </a:blip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14283596" y="11849379"/>
              <a:ext cx="604758" cy="604758"/>
            </a:xfrm>
            <a:custGeom>
              <a:avLst/>
              <a:gdLst/>
              <a:ahLst/>
              <a:cxnLst/>
              <a:rect r="r" b="b" t="t" l="l"/>
              <a:pathLst>
                <a:path h="604758" w="604758">
                  <a:moveTo>
                    <a:pt x="0" y="0"/>
                  </a:moveTo>
                  <a:lnTo>
                    <a:pt x="604757" y="0"/>
                  </a:lnTo>
                  <a:lnTo>
                    <a:pt x="604757" y="604757"/>
                  </a:lnTo>
                  <a:lnTo>
                    <a:pt x="0" y="604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13184951" y="11849379"/>
              <a:ext cx="984132" cy="604758"/>
            </a:xfrm>
            <a:custGeom>
              <a:avLst/>
              <a:gdLst/>
              <a:ahLst/>
              <a:cxnLst/>
              <a:rect r="r" b="b" t="t" l="l"/>
              <a:pathLst>
                <a:path h="604758" w="984132">
                  <a:moveTo>
                    <a:pt x="0" y="0"/>
                  </a:moveTo>
                  <a:lnTo>
                    <a:pt x="984132" y="0"/>
                  </a:lnTo>
                  <a:lnTo>
                    <a:pt x="984132" y="604757"/>
                  </a:lnTo>
                  <a:lnTo>
                    <a:pt x="0" y="604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369" t="0" r="-1369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 rot="0">
              <a:off x="1034978" y="586905"/>
              <a:ext cx="2803715" cy="1049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6"/>
                </a:lnSpc>
              </a:pPr>
              <a:r>
                <a:rPr lang="en-US" sz="2318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使用者介面層</a:t>
              </a:r>
            </a:p>
            <a:p>
              <a:pPr algn="ctr">
                <a:lnSpc>
                  <a:spcPts val="3246"/>
                </a:lnSpc>
              </a:pPr>
              <a:r>
                <a:rPr lang="en-US" sz="2318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(User Interface)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5801176" y="586905"/>
              <a:ext cx="3607926" cy="1049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6"/>
                </a:lnSpc>
              </a:pPr>
              <a:r>
                <a:rPr lang="en-US" sz="2318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伺服器後端層 </a:t>
              </a:r>
            </a:p>
            <a:p>
              <a:pPr algn="ctr">
                <a:lnSpc>
                  <a:spcPts val="3246"/>
                </a:lnSpc>
              </a:pPr>
              <a:r>
                <a:rPr lang="en-US" sz="2318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(Server Side - Flask)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11648110" y="586905"/>
              <a:ext cx="2250321" cy="1049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6"/>
                </a:lnSpc>
              </a:pPr>
              <a:r>
                <a:rPr lang="en-US" sz="2318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處理核心</a:t>
              </a:r>
            </a:p>
            <a:p>
              <a:pPr algn="ctr">
                <a:lnSpc>
                  <a:spcPts val="3246"/>
                </a:lnSpc>
              </a:pPr>
              <a:r>
                <a:rPr lang="en-US" sz="2318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(Processing)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4491514" y="3009883"/>
              <a:ext cx="1051409" cy="22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 (.mp3/.wav) 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4598588" y="6139108"/>
              <a:ext cx="841523" cy="226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音符 JSON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0">
              <a:off x="9709061" y="2101116"/>
              <a:ext cx="963649" cy="691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調用</a:t>
              </a:r>
            </a:p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(Demucs/</a:t>
              </a:r>
            </a:p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Basic-Pitch)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9689027" y="9050264"/>
              <a:ext cx="850045" cy="22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簡譜PDF檔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4441671" y="4275932"/>
              <a:ext cx="577678" cy="22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MIDI 檔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0">
              <a:off x="4123579" y="8236049"/>
              <a:ext cx="1213863" cy="22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PDF檔、MIDI檔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7733596" y="6550943"/>
              <a:ext cx="577678" cy="22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MIDI 檔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0">
              <a:off x="9902046" y="3661309"/>
              <a:ext cx="577678" cy="22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MIDI 檔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10135919" y="7295761"/>
              <a:ext cx="577678" cy="22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MIDI 檔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12997787" y="7696556"/>
              <a:ext cx="850045" cy="22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-US" sz="1030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簡譜PDF檔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4963012" y="2630057"/>
              <a:ext cx="112675" cy="260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6"/>
                </a:lnSpc>
                <a:spcBef>
                  <a:spcPct val="0"/>
                </a:spcBef>
              </a:pPr>
              <a:r>
                <a:rPr lang="en-US" sz="1197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1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10135919" y="1781856"/>
              <a:ext cx="112675" cy="260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6"/>
                </a:lnSpc>
                <a:spcBef>
                  <a:spcPct val="0"/>
                </a:spcBef>
              </a:pPr>
              <a:r>
                <a:rPr lang="en-US" sz="1197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2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10114050" y="3955455"/>
              <a:ext cx="112675" cy="260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6"/>
                </a:lnSpc>
                <a:spcBef>
                  <a:spcPct val="0"/>
                </a:spcBef>
              </a:pPr>
              <a:r>
                <a:rPr lang="en-US" sz="1197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3</a:t>
              </a:r>
            </a:p>
          </p:txBody>
        </p:sp>
        <p:sp>
          <p:nvSpPr>
            <p:cNvPr name="TextBox 96" id="96"/>
            <p:cNvSpPr txBox="true"/>
            <p:nvPr/>
          </p:nvSpPr>
          <p:spPr>
            <a:xfrm rot="0">
              <a:off x="4657168" y="3955455"/>
              <a:ext cx="112675" cy="260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6"/>
                </a:lnSpc>
                <a:spcBef>
                  <a:spcPct val="0"/>
                </a:spcBef>
              </a:pPr>
              <a:r>
                <a:rPr lang="en-US" sz="1197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4</a:t>
              </a:r>
            </a:p>
          </p:txBody>
        </p:sp>
        <p:sp>
          <p:nvSpPr>
            <p:cNvPr name="TextBox 97" id="97"/>
            <p:cNvSpPr txBox="true"/>
            <p:nvPr/>
          </p:nvSpPr>
          <p:spPr>
            <a:xfrm rot="0">
              <a:off x="4960880" y="5507390"/>
              <a:ext cx="112675" cy="260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6"/>
                </a:lnSpc>
                <a:spcBef>
                  <a:spcPct val="0"/>
                </a:spcBef>
              </a:pPr>
              <a:r>
                <a:rPr lang="en-US" sz="1197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5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7287057" y="6538386"/>
              <a:ext cx="112675" cy="260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6"/>
                </a:lnSpc>
                <a:spcBef>
                  <a:spcPct val="0"/>
                </a:spcBef>
              </a:pPr>
              <a:r>
                <a:rPr lang="en-US" sz="1197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6</a:t>
              </a:r>
            </a:p>
          </p:txBody>
        </p:sp>
        <p:sp>
          <p:nvSpPr>
            <p:cNvPr name="TextBox 99" id="99"/>
            <p:cNvSpPr txBox="true"/>
            <p:nvPr/>
          </p:nvSpPr>
          <p:spPr>
            <a:xfrm rot="0">
              <a:off x="10079581" y="6818246"/>
              <a:ext cx="112675" cy="260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6"/>
                </a:lnSpc>
                <a:spcBef>
                  <a:spcPct val="0"/>
                </a:spcBef>
              </a:pPr>
              <a:r>
                <a:rPr lang="en-US" sz="1197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7</a:t>
              </a:r>
            </a:p>
          </p:txBody>
        </p:sp>
        <p:sp>
          <p:nvSpPr>
            <p:cNvPr name="TextBox 100" id="100"/>
            <p:cNvSpPr txBox="true"/>
            <p:nvPr/>
          </p:nvSpPr>
          <p:spPr>
            <a:xfrm rot="0">
              <a:off x="12653230" y="7683999"/>
              <a:ext cx="112675" cy="260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6"/>
                </a:lnSpc>
                <a:spcBef>
                  <a:spcPct val="0"/>
                </a:spcBef>
              </a:pPr>
              <a:r>
                <a:rPr lang="en-US" sz="1197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8</a:t>
              </a:r>
            </a:p>
          </p:txBody>
        </p:sp>
        <p:sp>
          <p:nvSpPr>
            <p:cNvPr name="TextBox 101" id="101"/>
            <p:cNvSpPr txBox="true"/>
            <p:nvPr/>
          </p:nvSpPr>
          <p:spPr>
            <a:xfrm rot="0">
              <a:off x="10079581" y="8463664"/>
              <a:ext cx="112675" cy="260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6"/>
                </a:lnSpc>
                <a:spcBef>
                  <a:spcPct val="0"/>
                </a:spcBef>
              </a:pPr>
              <a:r>
                <a:rPr lang="en-US" sz="1197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9</a:t>
              </a:r>
            </a:p>
          </p:txBody>
        </p:sp>
        <p:sp>
          <p:nvSpPr>
            <p:cNvPr name="TextBox 102" id="102"/>
            <p:cNvSpPr txBox="true"/>
            <p:nvPr/>
          </p:nvSpPr>
          <p:spPr>
            <a:xfrm rot="0">
              <a:off x="4713612" y="7903787"/>
              <a:ext cx="225138" cy="260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6"/>
                </a:lnSpc>
                <a:spcBef>
                  <a:spcPct val="0"/>
                </a:spcBef>
              </a:pPr>
              <a:r>
                <a:rPr lang="en-US" sz="1197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9754" y="3067781"/>
            <a:ext cx="928116" cy="416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7"/>
              </a:lnSpc>
            </a:pPr>
            <a:r>
              <a:rPr lang="en-US" sz="61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系統流程圖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398367" y="181610"/>
            <a:ext cx="2209705" cy="966526"/>
            <a:chOff x="0" y="0"/>
            <a:chExt cx="575777" cy="2518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5777" cy="251845"/>
            </a:xfrm>
            <a:custGeom>
              <a:avLst/>
              <a:gdLst/>
              <a:ahLst/>
              <a:cxnLst/>
              <a:rect r="r" b="b" t="t" l="l"/>
              <a:pathLst>
                <a:path h="251845" w="575777">
                  <a:moveTo>
                    <a:pt x="125922" y="0"/>
                  </a:moveTo>
                  <a:lnTo>
                    <a:pt x="449854" y="0"/>
                  </a:lnTo>
                  <a:cubicBezTo>
                    <a:pt x="483251" y="0"/>
                    <a:pt x="515280" y="13267"/>
                    <a:pt x="538895" y="36882"/>
                  </a:cubicBezTo>
                  <a:cubicBezTo>
                    <a:pt x="562510" y="60497"/>
                    <a:pt x="575777" y="92526"/>
                    <a:pt x="575777" y="125922"/>
                  </a:cubicBezTo>
                  <a:lnTo>
                    <a:pt x="575777" y="125922"/>
                  </a:lnTo>
                  <a:cubicBezTo>
                    <a:pt x="575777" y="195468"/>
                    <a:pt x="519399" y="251845"/>
                    <a:pt x="449854" y="251845"/>
                  </a:cubicBezTo>
                  <a:lnTo>
                    <a:pt x="125922" y="251845"/>
                  </a:lnTo>
                  <a:cubicBezTo>
                    <a:pt x="92526" y="251845"/>
                    <a:pt x="60497" y="238578"/>
                    <a:pt x="36882" y="214963"/>
                  </a:cubicBezTo>
                  <a:cubicBezTo>
                    <a:pt x="13267" y="191348"/>
                    <a:pt x="0" y="159319"/>
                    <a:pt x="0" y="125922"/>
                  </a:cubicBezTo>
                  <a:lnTo>
                    <a:pt x="0" y="125922"/>
                  </a:lnTo>
                  <a:cubicBezTo>
                    <a:pt x="0" y="92526"/>
                    <a:pt x="13267" y="60497"/>
                    <a:pt x="36882" y="36882"/>
                  </a:cubicBezTo>
                  <a:cubicBezTo>
                    <a:pt x="60497" y="13267"/>
                    <a:pt x="92526" y="0"/>
                    <a:pt x="125922" y="0"/>
                  </a:cubicBezTo>
                  <a:close/>
                </a:path>
              </a:pathLst>
            </a:custGeom>
            <a:solidFill>
              <a:srgbClr val="D9D9D9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75777" cy="280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開始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061040" y="1377890"/>
            <a:ext cx="2884360" cy="1220569"/>
            <a:chOff x="0" y="0"/>
            <a:chExt cx="751570" cy="318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1570" cy="318040"/>
            </a:xfrm>
            <a:custGeom>
              <a:avLst/>
              <a:gdLst/>
              <a:ahLst/>
              <a:cxnLst/>
              <a:rect r="r" b="b" t="t" l="l"/>
              <a:pathLst>
                <a:path h="318040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8040"/>
                  </a:lnTo>
                  <a:lnTo>
                    <a:pt x="0" y="318040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51570" cy="346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使用者上傳音檔（MP3/WAV）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flipH="true">
            <a:off x="5503220" y="1148136"/>
            <a:ext cx="0" cy="22975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3471859" y="2856874"/>
            <a:ext cx="4062722" cy="2175798"/>
            <a:chOff x="0" y="0"/>
            <a:chExt cx="843582" cy="4517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3582" cy="451782"/>
            </a:xfrm>
            <a:custGeom>
              <a:avLst/>
              <a:gdLst/>
              <a:ahLst/>
              <a:cxnLst/>
              <a:rect r="r" b="b" t="t" l="l"/>
              <a:pathLst>
                <a:path h="451782" w="843582">
                  <a:moveTo>
                    <a:pt x="421791" y="0"/>
                  </a:moveTo>
                  <a:lnTo>
                    <a:pt x="843582" y="225891"/>
                  </a:lnTo>
                  <a:lnTo>
                    <a:pt x="421791" y="451782"/>
                  </a:lnTo>
                  <a:lnTo>
                    <a:pt x="0" y="225891"/>
                  </a:lnTo>
                  <a:lnTo>
                    <a:pt x="421791" y="0"/>
                  </a:lnTo>
                  <a:close/>
                </a:path>
              </a:pathLst>
            </a:custGeom>
            <a:solidFill>
              <a:srgbClr val="FFECB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98490" y="70597"/>
              <a:ext cx="446602" cy="282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是否勾選消除伴奏（人聲分離）？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H="true">
            <a:off x="5496669" y="2594977"/>
            <a:ext cx="0" cy="26189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5503220" y="5032672"/>
            <a:ext cx="0" cy="20898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8" id="18"/>
          <p:cNvSpPr txBox="true"/>
          <p:nvPr/>
        </p:nvSpPr>
        <p:spPr>
          <a:xfrm rot="0">
            <a:off x="5658031" y="4959535"/>
            <a:ext cx="208731" cy="28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sz="164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是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061040" y="5241654"/>
            <a:ext cx="2884360" cy="1217086"/>
            <a:chOff x="0" y="0"/>
            <a:chExt cx="751570" cy="3171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1570" cy="317133"/>
            </a:xfrm>
            <a:custGeom>
              <a:avLst/>
              <a:gdLst/>
              <a:ahLst/>
              <a:cxnLst/>
              <a:rect r="r" b="b" t="t" l="l"/>
              <a:pathLst>
                <a:path h="317133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7133"/>
                  </a:lnTo>
                  <a:lnTo>
                    <a:pt x="0" y="317133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751570" cy="3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 Demucs：抽取人聲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H="true">
            <a:off x="5496669" y="6458740"/>
            <a:ext cx="0" cy="26189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 flipV="true">
            <a:off x="7534580" y="3941840"/>
            <a:ext cx="377844" cy="293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4" id="24"/>
          <p:cNvSpPr txBox="true"/>
          <p:nvPr/>
        </p:nvSpPr>
        <p:spPr>
          <a:xfrm rot="0">
            <a:off x="7534580" y="3623248"/>
            <a:ext cx="208731" cy="28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sz="164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否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912425" y="3333297"/>
            <a:ext cx="2884360" cy="1217086"/>
            <a:chOff x="0" y="0"/>
            <a:chExt cx="751570" cy="3171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1570" cy="317133"/>
            </a:xfrm>
            <a:custGeom>
              <a:avLst/>
              <a:gdLst/>
              <a:ahLst/>
              <a:cxnLst/>
              <a:rect r="r" b="b" t="t" l="l"/>
              <a:pathLst>
                <a:path h="317133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7133"/>
                  </a:lnTo>
                  <a:lnTo>
                    <a:pt x="0" y="317133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51570" cy="3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 使用原始音檔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054489" y="6720637"/>
            <a:ext cx="2884360" cy="1220569"/>
            <a:chOff x="0" y="0"/>
            <a:chExt cx="751570" cy="318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1570" cy="318040"/>
            </a:xfrm>
            <a:custGeom>
              <a:avLst/>
              <a:gdLst/>
              <a:ahLst/>
              <a:cxnLst/>
              <a:rect r="r" b="b" t="t" l="l"/>
              <a:pathLst>
                <a:path h="318040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8040"/>
                  </a:lnTo>
                  <a:lnTo>
                    <a:pt x="0" y="318040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751570" cy="346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Basic-Pitch:音訊 → MIDI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H="true">
            <a:off x="5490119" y="7913092"/>
            <a:ext cx="0" cy="26189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4054489" y="8174990"/>
            <a:ext cx="2884360" cy="1220569"/>
            <a:chOff x="0" y="0"/>
            <a:chExt cx="751570" cy="318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1570" cy="318040"/>
            </a:xfrm>
            <a:custGeom>
              <a:avLst/>
              <a:gdLst/>
              <a:ahLst/>
              <a:cxnLst/>
              <a:rect r="r" b="b" t="t" l="l"/>
              <a:pathLst>
                <a:path h="318040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8040"/>
                  </a:lnTo>
                  <a:lnTo>
                    <a:pt x="0" y="318040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751570" cy="346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後端解析 MIDI → 音符資料（notes JSON）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31781" y="363488"/>
            <a:ext cx="2884360" cy="1220569"/>
            <a:chOff x="0" y="0"/>
            <a:chExt cx="751570" cy="318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1570" cy="318040"/>
            </a:xfrm>
            <a:custGeom>
              <a:avLst/>
              <a:gdLst/>
              <a:ahLst/>
              <a:cxnLst/>
              <a:rect r="r" b="b" t="t" l="l"/>
              <a:pathLst>
                <a:path h="318040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8040"/>
                  </a:lnTo>
                  <a:lnTo>
                    <a:pt x="0" y="318040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751570" cy="346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前端 Piano Roll 顯示音符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H="true">
            <a:off x="13367411" y="1555943"/>
            <a:ext cx="0" cy="26189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9" id="39"/>
          <p:cNvGrpSpPr/>
          <p:nvPr/>
        </p:nvGrpSpPr>
        <p:grpSpPr>
          <a:xfrm rot="0">
            <a:off x="11925231" y="1817840"/>
            <a:ext cx="2884360" cy="1217086"/>
            <a:chOff x="0" y="0"/>
            <a:chExt cx="751570" cy="31713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1570" cy="317133"/>
            </a:xfrm>
            <a:custGeom>
              <a:avLst/>
              <a:gdLst/>
              <a:ahLst/>
              <a:cxnLst/>
              <a:rect r="r" b="b" t="t" l="l"/>
              <a:pathLst>
                <a:path h="317133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7133"/>
                  </a:lnTo>
                  <a:lnTo>
                    <a:pt x="0" y="317133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751570" cy="3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使用者編輯音符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flipH="true">
            <a:off x="13360861" y="3034926"/>
            <a:ext cx="0" cy="26189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3" id="43"/>
          <p:cNvGrpSpPr/>
          <p:nvPr/>
        </p:nvGrpSpPr>
        <p:grpSpPr>
          <a:xfrm rot="0">
            <a:off x="11925231" y="3296824"/>
            <a:ext cx="2884360" cy="1217086"/>
            <a:chOff x="0" y="0"/>
            <a:chExt cx="751570" cy="31713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51570" cy="317133"/>
            </a:xfrm>
            <a:custGeom>
              <a:avLst/>
              <a:gdLst/>
              <a:ahLst/>
              <a:cxnLst/>
              <a:rect r="r" b="b" t="t" l="l"/>
              <a:pathLst>
                <a:path h="317133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7133"/>
                  </a:lnTo>
                  <a:lnTo>
                    <a:pt x="0" y="317133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751570" cy="3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按下「輸出成單音 MIDI」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flipH="true">
            <a:off x="13367411" y="4489279"/>
            <a:ext cx="0" cy="26189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7" id="47"/>
          <p:cNvGrpSpPr/>
          <p:nvPr/>
        </p:nvGrpSpPr>
        <p:grpSpPr>
          <a:xfrm rot="0">
            <a:off x="11918681" y="4751176"/>
            <a:ext cx="2884360" cy="1217086"/>
            <a:chOff x="0" y="0"/>
            <a:chExt cx="751570" cy="31713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51570" cy="317133"/>
            </a:xfrm>
            <a:custGeom>
              <a:avLst/>
              <a:gdLst/>
              <a:ahLst/>
              <a:cxnLst/>
              <a:rect r="r" b="b" t="t" l="l"/>
              <a:pathLst>
                <a:path h="317133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7133"/>
                  </a:lnTo>
                  <a:lnTo>
                    <a:pt x="0" y="317133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751570" cy="3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單音化處理：移除重疊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flipH="true">
            <a:off x="13354310" y="5943631"/>
            <a:ext cx="0" cy="26189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1" id="51"/>
          <p:cNvGrpSpPr/>
          <p:nvPr/>
        </p:nvGrpSpPr>
        <p:grpSpPr>
          <a:xfrm rot="0">
            <a:off x="11918681" y="6205528"/>
            <a:ext cx="2884360" cy="1220569"/>
            <a:chOff x="0" y="0"/>
            <a:chExt cx="751570" cy="318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51570" cy="318040"/>
            </a:xfrm>
            <a:custGeom>
              <a:avLst/>
              <a:gdLst/>
              <a:ahLst/>
              <a:cxnLst/>
              <a:rect r="r" b="b" t="t" l="l"/>
              <a:pathLst>
                <a:path h="318040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8040"/>
                  </a:lnTo>
                  <a:lnTo>
                    <a:pt x="0" y="318040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751570" cy="346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MIDI → MusicXML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→ 簡譜（LilyPond）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flipH="true">
            <a:off x="13354310" y="7422614"/>
            <a:ext cx="0" cy="26189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5" id="55"/>
          <p:cNvGrpSpPr/>
          <p:nvPr/>
        </p:nvGrpSpPr>
        <p:grpSpPr>
          <a:xfrm rot="0">
            <a:off x="11918681" y="7684512"/>
            <a:ext cx="2884360" cy="1220569"/>
            <a:chOff x="0" y="0"/>
            <a:chExt cx="751570" cy="3180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51570" cy="318040"/>
            </a:xfrm>
            <a:custGeom>
              <a:avLst/>
              <a:gdLst/>
              <a:ahLst/>
              <a:cxnLst/>
              <a:rect r="r" b="b" t="t" l="l"/>
              <a:pathLst>
                <a:path h="318040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8040"/>
                  </a:lnTo>
                  <a:lnTo>
                    <a:pt x="0" y="318040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751570" cy="346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結果頁面顯示 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PDF 預覽 + MIDI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flipH="true">
            <a:off x="13341210" y="8876967"/>
            <a:ext cx="0" cy="26189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9" id="59"/>
          <p:cNvGrpSpPr/>
          <p:nvPr/>
        </p:nvGrpSpPr>
        <p:grpSpPr>
          <a:xfrm rot="0">
            <a:off x="12249458" y="9138864"/>
            <a:ext cx="2209705" cy="966526"/>
            <a:chOff x="0" y="0"/>
            <a:chExt cx="575777" cy="25184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5777" cy="251845"/>
            </a:xfrm>
            <a:custGeom>
              <a:avLst/>
              <a:gdLst/>
              <a:ahLst/>
              <a:cxnLst/>
              <a:rect r="r" b="b" t="t" l="l"/>
              <a:pathLst>
                <a:path h="251845" w="575777">
                  <a:moveTo>
                    <a:pt x="125922" y="0"/>
                  </a:moveTo>
                  <a:lnTo>
                    <a:pt x="449854" y="0"/>
                  </a:lnTo>
                  <a:cubicBezTo>
                    <a:pt x="483251" y="0"/>
                    <a:pt x="515280" y="13267"/>
                    <a:pt x="538895" y="36882"/>
                  </a:cubicBezTo>
                  <a:cubicBezTo>
                    <a:pt x="562510" y="60497"/>
                    <a:pt x="575777" y="92526"/>
                    <a:pt x="575777" y="125922"/>
                  </a:cubicBezTo>
                  <a:lnTo>
                    <a:pt x="575777" y="125922"/>
                  </a:lnTo>
                  <a:cubicBezTo>
                    <a:pt x="575777" y="195468"/>
                    <a:pt x="519399" y="251845"/>
                    <a:pt x="449854" y="251845"/>
                  </a:cubicBezTo>
                  <a:lnTo>
                    <a:pt x="125922" y="251845"/>
                  </a:lnTo>
                  <a:cubicBezTo>
                    <a:pt x="92526" y="251845"/>
                    <a:pt x="60497" y="238578"/>
                    <a:pt x="36882" y="214963"/>
                  </a:cubicBezTo>
                  <a:cubicBezTo>
                    <a:pt x="13267" y="191348"/>
                    <a:pt x="0" y="159319"/>
                    <a:pt x="0" y="125922"/>
                  </a:cubicBezTo>
                  <a:lnTo>
                    <a:pt x="0" y="125922"/>
                  </a:lnTo>
                  <a:cubicBezTo>
                    <a:pt x="0" y="92526"/>
                    <a:pt x="13267" y="60497"/>
                    <a:pt x="36882" y="36882"/>
                  </a:cubicBezTo>
                  <a:cubicBezTo>
                    <a:pt x="60497" y="13267"/>
                    <a:pt x="92526" y="0"/>
                    <a:pt x="125922" y="0"/>
                  </a:cubicBezTo>
                  <a:close/>
                </a:path>
              </a:pathLst>
            </a:custGeom>
            <a:solidFill>
              <a:srgbClr val="D9D9D9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575777" cy="280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結束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flipH="true">
            <a:off x="6938849" y="4550383"/>
            <a:ext cx="2415755" cy="278053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3763" y="8594225"/>
            <a:ext cx="2840697" cy="2953465"/>
          </a:xfrm>
          <a:custGeom>
            <a:avLst/>
            <a:gdLst/>
            <a:ahLst/>
            <a:cxnLst/>
            <a:rect r="r" b="b" t="t" l="l"/>
            <a:pathLst>
              <a:path h="2953465" w="2840697">
                <a:moveTo>
                  <a:pt x="0" y="0"/>
                </a:moveTo>
                <a:lnTo>
                  <a:pt x="2840696" y="0"/>
                </a:lnTo>
                <a:lnTo>
                  <a:pt x="2840696" y="2953465"/>
                </a:lnTo>
                <a:lnTo>
                  <a:pt x="0" y="29534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2205" y="2623903"/>
            <a:ext cx="908760" cy="50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0"/>
              </a:lnSpc>
            </a:pPr>
            <a:r>
              <a:rPr lang="en-US" sz="6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單音化流程圖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308277" y="1283506"/>
            <a:ext cx="1962792" cy="862213"/>
            <a:chOff x="0" y="0"/>
            <a:chExt cx="575777" cy="2529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5777" cy="252927"/>
            </a:xfrm>
            <a:custGeom>
              <a:avLst/>
              <a:gdLst/>
              <a:ahLst/>
              <a:cxnLst/>
              <a:rect r="r" b="b" t="t" l="l"/>
              <a:pathLst>
                <a:path h="252927" w="575777">
                  <a:moveTo>
                    <a:pt x="126463" y="0"/>
                  </a:moveTo>
                  <a:lnTo>
                    <a:pt x="449313" y="0"/>
                  </a:lnTo>
                  <a:cubicBezTo>
                    <a:pt x="519157" y="0"/>
                    <a:pt x="575777" y="56620"/>
                    <a:pt x="575777" y="126463"/>
                  </a:cubicBezTo>
                  <a:lnTo>
                    <a:pt x="575777" y="126463"/>
                  </a:lnTo>
                  <a:cubicBezTo>
                    <a:pt x="575777" y="196307"/>
                    <a:pt x="519157" y="252927"/>
                    <a:pt x="449313" y="252927"/>
                  </a:cubicBezTo>
                  <a:lnTo>
                    <a:pt x="126463" y="252927"/>
                  </a:lnTo>
                  <a:cubicBezTo>
                    <a:pt x="56620" y="252927"/>
                    <a:pt x="0" y="196307"/>
                    <a:pt x="0" y="126463"/>
                  </a:cubicBezTo>
                  <a:lnTo>
                    <a:pt x="0" y="126463"/>
                  </a:lnTo>
                  <a:cubicBezTo>
                    <a:pt x="0" y="56620"/>
                    <a:pt x="56620" y="0"/>
                    <a:pt x="126463" y="0"/>
                  </a:cubicBezTo>
                  <a:close/>
                </a:path>
              </a:pathLst>
            </a:custGeom>
            <a:solidFill>
              <a:srgbClr val="D9D9D9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75777" cy="291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開始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50836" y="1090742"/>
            <a:ext cx="2562061" cy="1202525"/>
            <a:chOff x="0" y="0"/>
            <a:chExt cx="751570" cy="3527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1570" cy="352756"/>
            </a:xfrm>
            <a:custGeom>
              <a:avLst/>
              <a:gdLst/>
              <a:ahLst/>
              <a:cxnLst/>
              <a:rect r="r" b="b" t="t" l="l"/>
              <a:pathLst>
                <a:path h="352756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52756"/>
                  </a:lnTo>
                  <a:lnTo>
                    <a:pt x="0" y="352756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51570" cy="390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讀取音符資料</a:t>
              </a:r>
            </a:p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(notes JSON)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271069" y="1714613"/>
            <a:ext cx="479767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2439589" y="4265569"/>
            <a:ext cx="4136229" cy="2187223"/>
            <a:chOff x="0" y="0"/>
            <a:chExt cx="966884" cy="5112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6884" cy="511285"/>
            </a:xfrm>
            <a:custGeom>
              <a:avLst/>
              <a:gdLst/>
              <a:ahLst/>
              <a:cxnLst/>
              <a:rect r="r" b="b" t="t" l="l"/>
              <a:pathLst>
                <a:path h="511285" w="966884">
                  <a:moveTo>
                    <a:pt x="483442" y="0"/>
                  </a:moveTo>
                  <a:lnTo>
                    <a:pt x="966884" y="255643"/>
                  </a:lnTo>
                  <a:lnTo>
                    <a:pt x="483442" y="511285"/>
                  </a:lnTo>
                  <a:lnTo>
                    <a:pt x="0" y="255643"/>
                  </a:lnTo>
                  <a:lnTo>
                    <a:pt x="483442" y="0"/>
                  </a:lnTo>
                  <a:close/>
                </a:path>
              </a:pathLst>
            </a:custGeom>
            <a:solidFill>
              <a:srgbClr val="FFECB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227502" y="74133"/>
              <a:ext cx="511880" cy="324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是否存在音符重疊？</a:t>
              </a:r>
            </a:p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start₂ &lt; end₁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H="true">
            <a:off x="2439589" y="1692005"/>
            <a:ext cx="10941035" cy="3667176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9305093" y="4818920"/>
            <a:ext cx="2562061" cy="1081089"/>
            <a:chOff x="0" y="0"/>
            <a:chExt cx="751570" cy="3171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1570" cy="317133"/>
            </a:xfrm>
            <a:custGeom>
              <a:avLst/>
              <a:gdLst/>
              <a:ahLst/>
              <a:cxnLst/>
              <a:rect r="r" b="b" t="t" l="l"/>
              <a:pathLst>
                <a:path h="317133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7133"/>
                  </a:lnTo>
                  <a:lnTo>
                    <a:pt x="0" y="317133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51570" cy="35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處理下一筆音符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72458" y="8492759"/>
            <a:ext cx="2562061" cy="1081089"/>
            <a:chOff x="0" y="0"/>
            <a:chExt cx="751570" cy="3171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1570" cy="317133"/>
            </a:xfrm>
            <a:custGeom>
              <a:avLst/>
              <a:gdLst/>
              <a:ahLst/>
              <a:cxnLst/>
              <a:rect r="r" b="b" t="t" l="l"/>
              <a:pathLst>
                <a:path h="317133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7133"/>
                  </a:lnTo>
                  <a:lnTo>
                    <a:pt x="0" y="317133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51570" cy="35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</a:pPr>
              <a:r>
                <a:rPr lang="en-US" sz="16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產生單音音符序列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5434520" y="9033304"/>
            <a:ext cx="47806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5912589" y="8492759"/>
            <a:ext cx="2562061" cy="1081089"/>
            <a:chOff x="0" y="0"/>
            <a:chExt cx="751570" cy="3171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1570" cy="317133"/>
            </a:xfrm>
            <a:custGeom>
              <a:avLst/>
              <a:gdLst/>
              <a:ahLst/>
              <a:cxnLst/>
              <a:rect r="r" b="b" t="t" l="l"/>
              <a:pathLst>
                <a:path h="317133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7133"/>
                  </a:lnTo>
                  <a:lnTo>
                    <a:pt x="0" y="317133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51570" cy="35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</a:pPr>
              <a:r>
                <a:rPr lang="en-US" sz="16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輸出單音 MIDI 檔案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8474650" y="9033304"/>
            <a:ext cx="474517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8" id="28"/>
          <p:cNvGrpSpPr/>
          <p:nvPr/>
        </p:nvGrpSpPr>
        <p:grpSpPr>
          <a:xfrm rot="0">
            <a:off x="8949167" y="8581353"/>
            <a:ext cx="1962792" cy="858526"/>
            <a:chOff x="0" y="0"/>
            <a:chExt cx="575777" cy="2518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5777" cy="251845"/>
            </a:xfrm>
            <a:custGeom>
              <a:avLst/>
              <a:gdLst/>
              <a:ahLst/>
              <a:cxnLst/>
              <a:rect r="r" b="b" t="t" l="l"/>
              <a:pathLst>
                <a:path h="251845" w="575777">
                  <a:moveTo>
                    <a:pt x="125922" y="0"/>
                  </a:moveTo>
                  <a:lnTo>
                    <a:pt x="449854" y="0"/>
                  </a:lnTo>
                  <a:cubicBezTo>
                    <a:pt x="483251" y="0"/>
                    <a:pt x="515280" y="13267"/>
                    <a:pt x="538895" y="36882"/>
                  </a:cubicBezTo>
                  <a:cubicBezTo>
                    <a:pt x="562510" y="60497"/>
                    <a:pt x="575777" y="92526"/>
                    <a:pt x="575777" y="125922"/>
                  </a:cubicBezTo>
                  <a:lnTo>
                    <a:pt x="575777" y="125922"/>
                  </a:lnTo>
                  <a:cubicBezTo>
                    <a:pt x="575777" y="195468"/>
                    <a:pt x="519399" y="251845"/>
                    <a:pt x="449854" y="251845"/>
                  </a:cubicBezTo>
                  <a:lnTo>
                    <a:pt x="125922" y="251845"/>
                  </a:lnTo>
                  <a:cubicBezTo>
                    <a:pt x="92526" y="251845"/>
                    <a:pt x="60497" y="238578"/>
                    <a:pt x="36882" y="214963"/>
                  </a:cubicBezTo>
                  <a:cubicBezTo>
                    <a:pt x="13267" y="191348"/>
                    <a:pt x="0" y="159319"/>
                    <a:pt x="0" y="125922"/>
                  </a:cubicBezTo>
                  <a:lnTo>
                    <a:pt x="0" y="125922"/>
                  </a:lnTo>
                  <a:cubicBezTo>
                    <a:pt x="0" y="92526"/>
                    <a:pt x="13267" y="60497"/>
                    <a:pt x="36882" y="36882"/>
                  </a:cubicBezTo>
                  <a:cubicBezTo>
                    <a:pt x="60497" y="13267"/>
                    <a:pt x="92526" y="0"/>
                    <a:pt x="125922" y="0"/>
                  </a:cubicBezTo>
                  <a:close/>
                </a:path>
              </a:pathLst>
            </a:custGeom>
            <a:solidFill>
              <a:srgbClr val="D9D9D9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75777" cy="289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結束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153489" y="6527237"/>
            <a:ext cx="228637" cy="30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是</a:t>
            </a:r>
          </a:p>
        </p:txBody>
      </p:sp>
      <p:sp>
        <p:nvSpPr>
          <p:cNvPr name="AutoShape 32" id="32"/>
          <p:cNvSpPr/>
          <p:nvPr/>
        </p:nvSpPr>
        <p:spPr>
          <a:xfrm>
            <a:off x="7312897" y="1692005"/>
            <a:ext cx="473840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7782964" y="1090742"/>
            <a:ext cx="2562061" cy="1202525"/>
            <a:chOff x="0" y="0"/>
            <a:chExt cx="751570" cy="3527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1570" cy="352756"/>
            </a:xfrm>
            <a:custGeom>
              <a:avLst/>
              <a:gdLst/>
              <a:ahLst/>
              <a:cxnLst/>
              <a:rect r="r" b="b" t="t" l="l"/>
              <a:pathLst>
                <a:path h="352756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52756"/>
                  </a:lnTo>
                  <a:lnTo>
                    <a:pt x="0" y="352756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51570" cy="390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依音符開始時間排序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0345025" y="1692005"/>
            <a:ext cx="473537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10818562" y="1090742"/>
            <a:ext cx="2562061" cy="1202525"/>
            <a:chOff x="0" y="0"/>
            <a:chExt cx="751570" cy="3527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1570" cy="352756"/>
            </a:xfrm>
            <a:custGeom>
              <a:avLst/>
              <a:gdLst/>
              <a:ahLst/>
              <a:cxnLst/>
              <a:rect r="r" b="b" t="t" l="l"/>
              <a:pathLst>
                <a:path h="352756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52756"/>
                  </a:lnTo>
                  <a:lnTo>
                    <a:pt x="0" y="352756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51570" cy="390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取出目前音符</a:t>
              </a:r>
            </a:p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與下一</a:t>
              </a: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音符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4507703" y="6452793"/>
            <a:ext cx="2522890" cy="529507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triangle" len="med" w="lg"/>
          </a:ln>
        </p:spPr>
      </p:sp>
      <p:grpSp>
        <p:nvGrpSpPr>
          <p:cNvPr name="Group 41" id="41"/>
          <p:cNvGrpSpPr/>
          <p:nvPr/>
        </p:nvGrpSpPr>
        <p:grpSpPr>
          <a:xfrm rot="0">
            <a:off x="7030593" y="3215265"/>
            <a:ext cx="2562061" cy="1081089"/>
            <a:chOff x="0" y="0"/>
            <a:chExt cx="751570" cy="31713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1570" cy="317133"/>
            </a:xfrm>
            <a:custGeom>
              <a:avLst/>
              <a:gdLst/>
              <a:ahLst/>
              <a:cxnLst/>
              <a:rect r="r" b="b" t="t" l="l"/>
              <a:pathLst>
                <a:path h="317133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17133"/>
                  </a:lnTo>
                  <a:lnTo>
                    <a:pt x="0" y="317133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51570" cy="35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保留原音符資料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030593" y="6430997"/>
            <a:ext cx="2562061" cy="1102606"/>
            <a:chOff x="0" y="0"/>
            <a:chExt cx="751570" cy="3234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1570" cy="323445"/>
            </a:xfrm>
            <a:custGeom>
              <a:avLst/>
              <a:gdLst/>
              <a:ahLst/>
              <a:cxnLst/>
              <a:rect r="r" b="b" t="t" l="l"/>
              <a:pathLst>
                <a:path h="323445" w="751570">
                  <a:moveTo>
                    <a:pt x="0" y="0"/>
                  </a:moveTo>
                  <a:lnTo>
                    <a:pt x="751570" y="0"/>
                  </a:lnTo>
                  <a:lnTo>
                    <a:pt x="751570" y="323445"/>
                  </a:lnTo>
                  <a:lnTo>
                    <a:pt x="0" y="323445"/>
                  </a:lnTo>
                  <a:close/>
                </a:path>
              </a:pathLst>
            </a:custGeom>
            <a:solidFill>
              <a:srgbClr val="DFE7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51570" cy="361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調整前一音符</a:t>
              </a: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結束時間</a:t>
              </a:r>
            </a:p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(end₁ = start₂)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flipV="true">
            <a:off x="4507703" y="3755810"/>
            <a:ext cx="2522890" cy="509760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triangle" len="med" w="lg"/>
          </a:ln>
        </p:spPr>
      </p:sp>
      <p:sp>
        <p:nvSpPr>
          <p:cNvPr name="TextBox 48" id="48"/>
          <p:cNvSpPr txBox="true"/>
          <p:nvPr/>
        </p:nvSpPr>
        <p:spPr>
          <a:xfrm rot="0">
            <a:off x="4153489" y="3910576"/>
            <a:ext cx="228637" cy="30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否</a:t>
            </a:r>
          </a:p>
        </p:txBody>
      </p:sp>
      <p:sp>
        <p:nvSpPr>
          <p:cNvPr name="AutoShape 49" id="49"/>
          <p:cNvSpPr/>
          <p:nvPr/>
        </p:nvSpPr>
        <p:spPr>
          <a:xfrm>
            <a:off x="9592655" y="3755810"/>
            <a:ext cx="993469" cy="106311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 flipV="true">
            <a:off x="9592655" y="5900009"/>
            <a:ext cx="993469" cy="1082291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12339526" y="4287365"/>
            <a:ext cx="3897166" cy="2143632"/>
            <a:chOff x="0" y="0"/>
            <a:chExt cx="911001" cy="50109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1001" cy="501095"/>
            </a:xfrm>
            <a:custGeom>
              <a:avLst/>
              <a:gdLst/>
              <a:ahLst/>
              <a:cxnLst/>
              <a:rect r="r" b="b" t="t" l="l"/>
              <a:pathLst>
                <a:path h="501095" w="911001">
                  <a:moveTo>
                    <a:pt x="455501" y="0"/>
                  </a:moveTo>
                  <a:lnTo>
                    <a:pt x="911001" y="250548"/>
                  </a:lnTo>
                  <a:lnTo>
                    <a:pt x="455501" y="501095"/>
                  </a:lnTo>
                  <a:lnTo>
                    <a:pt x="0" y="250548"/>
                  </a:lnTo>
                  <a:lnTo>
                    <a:pt x="455501" y="0"/>
                  </a:lnTo>
                  <a:close/>
                </a:path>
              </a:pathLst>
            </a:custGeom>
            <a:solidFill>
              <a:srgbClr val="FFECB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214353" y="71896"/>
              <a:ext cx="482295" cy="319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是否已處理完</a:t>
              </a:r>
            </a:p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所有音符？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>
            <a:off x="11867155" y="5359464"/>
            <a:ext cx="472371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5" id="55"/>
          <p:cNvSpPr/>
          <p:nvPr/>
        </p:nvSpPr>
        <p:spPr>
          <a:xfrm flipH="true">
            <a:off x="2872458" y="6405786"/>
            <a:ext cx="11363694" cy="2734152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arrow" len="sm" w="med"/>
          </a:ln>
        </p:spPr>
      </p:sp>
      <p:sp>
        <p:nvSpPr>
          <p:cNvPr name="TextBox 56" id="56"/>
          <p:cNvSpPr txBox="true"/>
          <p:nvPr/>
        </p:nvSpPr>
        <p:spPr>
          <a:xfrm rot="0">
            <a:off x="14354197" y="6392897"/>
            <a:ext cx="228637" cy="30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是</a:t>
            </a:r>
          </a:p>
        </p:txBody>
      </p:sp>
      <p:sp>
        <p:nvSpPr>
          <p:cNvPr name="AutoShape 57" id="57"/>
          <p:cNvSpPr/>
          <p:nvPr/>
        </p:nvSpPr>
        <p:spPr>
          <a:xfrm flipH="true" flipV="true">
            <a:off x="12099593" y="1090742"/>
            <a:ext cx="2188516" cy="3196623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triangle" len="med" w="lg"/>
          </a:ln>
        </p:spPr>
      </p:sp>
      <p:sp>
        <p:nvSpPr>
          <p:cNvPr name="TextBox 58" id="58"/>
          <p:cNvSpPr txBox="true"/>
          <p:nvPr/>
        </p:nvSpPr>
        <p:spPr>
          <a:xfrm rot="0">
            <a:off x="14354197" y="3910576"/>
            <a:ext cx="228637" cy="30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否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5023281" y="468268"/>
            <a:ext cx="2871839" cy="1403611"/>
          </a:xfrm>
          <a:custGeom>
            <a:avLst/>
            <a:gdLst/>
            <a:ahLst/>
            <a:cxnLst/>
            <a:rect r="r" b="b" t="t" l="l"/>
            <a:pathLst>
              <a:path h="1403611" w="2871839">
                <a:moveTo>
                  <a:pt x="0" y="0"/>
                </a:moveTo>
                <a:lnTo>
                  <a:pt x="2871838" y="0"/>
                </a:lnTo>
                <a:lnTo>
                  <a:pt x="2871838" y="1403611"/>
                </a:lnTo>
                <a:lnTo>
                  <a:pt x="0" y="14036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8117" y="168303"/>
            <a:ext cx="18566117" cy="10399692"/>
          </a:xfrm>
          <a:custGeom>
            <a:avLst/>
            <a:gdLst/>
            <a:ahLst/>
            <a:cxnLst/>
            <a:rect r="r" b="b" t="t" l="l"/>
            <a:pathLst>
              <a:path h="10399692" w="18566117">
                <a:moveTo>
                  <a:pt x="0" y="0"/>
                </a:moveTo>
                <a:lnTo>
                  <a:pt x="18566117" y="0"/>
                </a:lnTo>
                <a:lnTo>
                  <a:pt x="18566117" y="10399692"/>
                </a:lnTo>
                <a:lnTo>
                  <a:pt x="0" y="10399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51" t="-88893" r="-3110" b="-9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03488" y="4025258"/>
            <a:ext cx="11338174" cy="200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9"/>
              </a:lnSpc>
              <a:spcBef>
                <a:spcPct val="0"/>
              </a:spcBef>
            </a:pPr>
            <a:r>
              <a:rPr lang="en-US" sz="116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系統實作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42696" y="7771886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8"/>
                </a:lnTo>
                <a:lnTo>
                  <a:pt x="5039391" y="5030228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66543" y="1464114"/>
            <a:ext cx="12354914" cy="8555778"/>
          </a:xfrm>
          <a:custGeom>
            <a:avLst/>
            <a:gdLst/>
            <a:ahLst/>
            <a:cxnLst/>
            <a:rect r="r" b="b" t="t" l="l"/>
            <a:pathLst>
              <a:path h="8555778" w="12354914">
                <a:moveTo>
                  <a:pt x="0" y="0"/>
                </a:moveTo>
                <a:lnTo>
                  <a:pt x="12354914" y="0"/>
                </a:lnTo>
                <a:lnTo>
                  <a:pt x="12354914" y="8555778"/>
                </a:lnTo>
                <a:lnTo>
                  <a:pt x="0" y="85557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3509" y="717991"/>
            <a:ext cx="4886068" cy="5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使用者上傳音訊介面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30510" y="95692"/>
            <a:ext cx="342698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-專題成果展示-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6123" y="3088359"/>
            <a:ext cx="16453177" cy="6169941"/>
          </a:xfrm>
          <a:custGeom>
            <a:avLst/>
            <a:gdLst/>
            <a:ahLst/>
            <a:cxnLst/>
            <a:rect r="r" b="b" t="t" l="l"/>
            <a:pathLst>
              <a:path h="6169941" w="16453177">
                <a:moveTo>
                  <a:pt x="0" y="0"/>
                </a:moveTo>
                <a:lnTo>
                  <a:pt x="16453177" y="0"/>
                </a:lnTo>
                <a:lnTo>
                  <a:pt x="16453177" y="6169941"/>
                </a:lnTo>
                <a:lnTo>
                  <a:pt x="0" y="61699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 flipV="true">
            <a:off x="15060308" y="2537735"/>
            <a:ext cx="2509384" cy="2106708"/>
          </a:xfrm>
          <a:prstGeom prst="line">
            <a:avLst/>
          </a:prstGeom>
          <a:ln cap="flat" w="1238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403617" y="1028700"/>
            <a:ext cx="8214240" cy="4165626"/>
          </a:xfrm>
          <a:custGeom>
            <a:avLst/>
            <a:gdLst/>
            <a:ahLst/>
            <a:cxnLst/>
            <a:rect r="r" b="b" t="t" l="l"/>
            <a:pathLst>
              <a:path h="4165626" w="8214240">
                <a:moveTo>
                  <a:pt x="0" y="0"/>
                </a:moveTo>
                <a:lnTo>
                  <a:pt x="8214240" y="0"/>
                </a:lnTo>
                <a:lnTo>
                  <a:pt x="8214240" y="4165626"/>
                </a:lnTo>
                <a:lnTo>
                  <a:pt x="0" y="4165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8342" y="962025"/>
            <a:ext cx="2667000" cy="5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使用者編輯介面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30510" y="95692"/>
            <a:ext cx="342698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-專題成果展示-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4626" y="2711870"/>
            <a:ext cx="15978748" cy="5492695"/>
          </a:xfrm>
          <a:custGeom>
            <a:avLst/>
            <a:gdLst/>
            <a:ahLst/>
            <a:cxnLst/>
            <a:rect r="r" b="b" t="t" l="l"/>
            <a:pathLst>
              <a:path h="5492695" w="15978748">
                <a:moveTo>
                  <a:pt x="0" y="0"/>
                </a:moveTo>
                <a:lnTo>
                  <a:pt x="15978748" y="0"/>
                </a:lnTo>
                <a:lnTo>
                  <a:pt x="15978748" y="5492694"/>
                </a:lnTo>
                <a:lnTo>
                  <a:pt x="0" y="54926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3704" y="1343197"/>
            <a:ext cx="6057768" cy="5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使用者編輯介面-新增模式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30510" y="95692"/>
            <a:ext cx="342698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-專題成果展示-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010588"/>
            <a:ext cx="15849632" cy="5091694"/>
          </a:xfrm>
          <a:custGeom>
            <a:avLst/>
            <a:gdLst/>
            <a:ahLst/>
            <a:cxnLst/>
            <a:rect r="r" b="b" t="t" l="l"/>
            <a:pathLst>
              <a:path h="5091694" w="15849632">
                <a:moveTo>
                  <a:pt x="0" y="0"/>
                </a:moveTo>
                <a:lnTo>
                  <a:pt x="15849632" y="0"/>
                </a:lnTo>
                <a:lnTo>
                  <a:pt x="15849632" y="5091694"/>
                </a:lnTo>
                <a:lnTo>
                  <a:pt x="0" y="50916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30510" y="95692"/>
            <a:ext cx="342698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-專題成果展示-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3704" y="1343197"/>
            <a:ext cx="6057768" cy="5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使用者編輯介面-新增模式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3315" y="2335253"/>
            <a:ext cx="15601370" cy="5616493"/>
          </a:xfrm>
          <a:custGeom>
            <a:avLst/>
            <a:gdLst/>
            <a:ahLst/>
            <a:cxnLst/>
            <a:rect r="r" b="b" t="t" l="l"/>
            <a:pathLst>
              <a:path h="5616493" w="15601370">
                <a:moveTo>
                  <a:pt x="0" y="0"/>
                </a:moveTo>
                <a:lnTo>
                  <a:pt x="15601370" y="0"/>
                </a:lnTo>
                <a:lnTo>
                  <a:pt x="15601370" y="5616494"/>
                </a:lnTo>
                <a:lnTo>
                  <a:pt x="0" y="5616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962025"/>
            <a:ext cx="5358953" cy="5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使用者編輯介面-刪除模式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30510" y="95692"/>
            <a:ext cx="342698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-專題成果展示-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5873" y="2253370"/>
            <a:ext cx="16456253" cy="5780259"/>
          </a:xfrm>
          <a:custGeom>
            <a:avLst/>
            <a:gdLst/>
            <a:ahLst/>
            <a:cxnLst/>
            <a:rect r="r" b="b" t="t" l="l"/>
            <a:pathLst>
              <a:path h="5780259" w="16456253">
                <a:moveTo>
                  <a:pt x="0" y="0"/>
                </a:moveTo>
                <a:lnTo>
                  <a:pt x="16456254" y="0"/>
                </a:lnTo>
                <a:lnTo>
                  <a:pt x="16456254" y="5780260"/>
                </a:lnTo>
                <a:lnTo>
                  <a:pt x="0" y="57802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962025"/>
            <a:ext cx="5358953" cy="5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使用者編輯介面-刪除模式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30510" y="95692"/>
            <a:ext cx="342698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-專題成果展示-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8117" y="168303"/>
            <a:ext cx="18566117" cy="10399692"/>
          </a:xfrm>
          <a:custGeom>
            <a:avLst/>
            <a:gdLst/>
            <a:ahLst/>
            <a:cxnLst/>
            <a:rect r="r" b="b" t="t" l="l"/>
            <a:pathLst>
              <a:path h="10399692" w="18566117">
                <a:moveTo>
                  <a:pt x="0" y="0"/>
                </a:moveTo>
                <a:lnTo>
                  <a:pt x="18566117" y="0"/>
                </a:lnTo>
                <a:lnTo>
                  <a:pt x="18566117" y="10399692"/>
                </a:lnTo>
                <a:lnTo>
                  <a:pt x="0" y="10399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51" t="-88893" r="-3110" b="-9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903412" y="7446440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74913" y="4025258"/>
            <a:ext cx="11338174" cy="200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9"/>
              </a:lnSpc>
              <a:spcBef>
                <a:spcPct val="0"/>
              </a:spcBef>
            </a:pPr>
            <a:r>
              <a:rPr lang="en-US" sz="116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結論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76999" y="4613973"/>
            <a:ext cx="487775" cy="754177"/>
          </a:xfrm>
          <a:custGeom>
            <a:avLst/>
            <a:gdLst/>
            <a:ahLst/>
            <a:cxnLst/>
            <a:rect r="r" b="b" t="t" l="l"/>
            <a:pathLst>
              <a:path h="754177" w="487775">
                <a:moveTo>
                  <a:pt x="0" y="0"/>
                </a:moveTo>
                <a:lnTo>
                  <a:pt x="487775" y="0"/>
                </a:lnTo>
                <a:lnTo>
                  <a:pt x="487775" y="754176"/>
                </a:lnTo>
                <a:lnTo>
                  <a:pt x="0" y="754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59450" y="2447606"/>
            <a:ext cx="15369099" cy="740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提升準確度： 導入音樂理論後處理機制，自動修復轉譯過程中的音符碎片與節奏誤差。</a:t>
            </a:r>
          </a:p>
          <a:p>
            <a:pPr algn="just">
              <a:lnSpc>
                <a:spcPts val="5880"/>
              </a:lnSpc>
            </a:pP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功能擴展： 新增和弦識別與多聲部/多樂器簡譜支援，豐富樂譜內容與實用性。</a:t>
            </a:r>
          </a:p>
          <a:p>
            <a:pPr algn="just">
              <a:lnSpc>
                <a:spcPts val="5880"/>
              </a:lnSpc>
            </a:pP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優化體驗： 採用 ONNX 模型加速推論，並開發 WYSIWYG 線上編輯器，提供使用者即時預覽與微調修正。</a:t>
            </a:r>
          </a:p>
          <a:p>
            <a:pPr algn="just">
              <a:lnSpc>
                <a:spcPts val="58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172448" y="800100"/>
            <a:ext cx="5943104" cy="200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9"/>
              </a:lnSpc>
              <a:spcBef>
                <a:spcPct val="0"/>
              </a:spcBef>
            </a:pPr>
            <a:r>
              <a:rPr lang="en-US" sz="116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未來展望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60290" y="560065"/>
            <a:ext cx="11644394" cy="908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sz="287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參考文獻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sz="287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[1] A. Défossez, J. Copet, G. Synnaeve, and Y. Adi, "Hybrid spectrogram and waveform source separation," arXiv:2111.03600v2,Nov. 2021. [Online]. Available: https://arxiv.org/abs/2111.03600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sz="287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[2] R. M. Bittner, J. J. Bosch, D. Rubinstein, G. Meseguer‑Brocal, and S. Ewert, “A lightweight instrument‑agnostic model for polyphonic note transcription and multipitch estimation,” arXiv preprint arXiv:2203.09893v2, 2022.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sz="287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[3] MuseScore, "MuseScore: Free music composition and notation software," Ver. 4.0. [Online]. Available: https://musescore.org. [Accessed: Dec. 02, 2025].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sz="287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[4] ssb22, “jianpu-ly.py: Render Jianpu notation with LilyPond,” GitHub, 2023. [Online]. Available: https://github.com/ssb22/jianpu-ly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sz="287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[5] H. W. Nienhuys and J. Nieuwenhuizen, "LilyPond, a system for automated music engraving," in Proc. Colloquium on Musical Informatics (XIV CIM 2003), May 2003.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8117" y="-112692"/>
            <a:ext cx="18566117" cy="10399692"/>
          </a:xfrm>
          <a:custGeom>
            <a:avLst/>
            <a:gdLst/>
            <a:ahLst/>
            <a:cxnLst/>
            <a:rect r="r" b="b" t="t" l="l"/>
            <a:pathLst>
              <a:path h="10399692" w="18566117">
                <a:moveTo>
                  <a:pt x="0" y="0"/>
                </a:moveTo>
                <a:lnTo>
                  <a:pt x="18566117" y="0"/>
                </a:lnTo>
                <a:lnTo>
                  <a:pt x="18566117" y="10399692"/>
                </a:lnTo>
                <a:lnTo>
                  <a:pt x="0" y="10399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51" t="-88893" r="-3110" b="-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86907"/>
            <a:ext cx="440160" cy="436959"/>
          </a:xfrm>
          <a:custGeom>
            <a:avLst/>
            <a:gdLst/>
            <a:ahLst/>
            <a:cxnLst/>
            <a:rect r="r" b="b" t="t" l="l"/>
            <a:pathLst>
              <a:path h="436959" w="440160">
                <a:moveTo>
                  <a:pt x="0" y="0"/>
                </a:moveTo>
                <a:lnTo>
                  <a:pt x="440160" y="0"/>
                </a:lnTo>
                <a:lnTo>
                  <a:pt x="440160" y="436958"/>
                </a:lnTo>
                <a:lnTo>
                  <a:pt x="0" y="43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7603" y="985313"/>
            <a:ext cx="17032794" cy="674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3"/>
              </a:lnSpc>
              <a:spcBef>
                <a:spcPct val="0"/>
              </a:spcBef>
            </a:pPr>
            <a:r>
              <a:rPr lang="en-US" sz="29359">
                <a:solidFill>
                  <a:srgbClr val="35332F"/>
                </a:solidFill>
                <a:latin typeface="Bernier Shade"/>
                <a:ea typeface="Bernier Shade"/>
                <a:cs typeface="Bernier Shade"/>
                <a:sym typeface="Bernier Shade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641148" y="4100368"/>
            <a:ext cx="2727587" cy="6186632"/>
          </a:xfrm>
          <a:custGeom>
            <a:avLst/>
            <a:gdLst/>
            <a:ahLst/>
            <a:cxnLst/>
            <a:rect r="r" b="b" t="t" l="l"/>
            <a:pathLst>
              <a:path h="6186632" w="2727587">
                <a:moveTo>
                  <a:pt x="0" y="0"/>
                </a:moveTo>
                <a:lnTo>
                  <a:pt x="2727587" y="0"/>
                </a:lnTo>
                <a:lnTo>
                  <a:pt x="2727587" y="6186632"/>
                </a:lnTo>
                <a:lnTo>
                  <a:pt x="0" y="61866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206561">
            <a:off x="5747705" y="1570257"/>
            <a:ext cx="6725926" cy="1687563"/>
            <a:chOff x="0" y="0"/>
            <a:chExt cx="1339999" cy="3362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9999" cy="336211"/>
            </a:xfrm>
            <a:custGeom>
              <a:avLst/>
              <a:gdLst/>
              <a:ahLst/>
              <a:cxnLst/>
              <a:rect r="r" b="b" t="t" l="l"/>
              <a:pathLst>
                <a:path h="336211" w="1339999">
                  <a:moveTo>
                    <a:pt x="669999" y="0"/>
                  </a:moveTo>
                  <a:cubicBezTo>
                    <a:pt x="299969" y="0"/>
                    <a:pt x="0" y="75263"/>
                    <a:pt x="0" y="168106"/>
                  </a:cubicBezTo>
                  <a:cubicBezTo>
                    <a:pt x="0" y="260948"/>
                    <a:pt x="299969" y="336211"/>
                    <a:pt x="669999" y="336211"/>
                  </a:cubicBezTo>
                  <a:cubicBezTo>
                    <a:pt x="1040030" y="336211"/>
                    <a:pt x="1339999" y="260948"/>
                    <a:pt x="1339999" y="168106"/>
                  </a:cubicBezTo>
                  <a:cubicBezTo>
                    <a:pt x="1339999" y="75263"/>
                    <a:pt x="1040030" y="0"/>
                    <a:pt x="669999" y="0"/>
                  </a:cubicBezTo>
                  <a:close/>
                </a:path>
              </a:pathLst>
            </a:custGeom>
            <a:solidFill>
              <a:srgbClr val="B12622"/>
            </a:solidFill>
            <a:ln w="47625" cap="sq">
              <a:solidFill>
                <a:srgbClr val="D8C6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25625" y="-6580"/>
              <a:ext cx="1088749" cy="311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260662">
            <a:off x="6148303" y="1973467"/>
            <a:ext cx="5931945" cy="78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3"/>
              </a:lnSpc>
              <a:spcBef>
                <a:spcPct val="0"/>
              </a:spcBef>
            </a:pPr>
            <a:r>
              <a:rPr lang="en-US" sz="4573">
                <a:solidFill>
                  <a:srgbClr val="D8C6A2"/>
                </a:solidFill>
                <a:latin typeface="Pacifico"/>
                <a:ea typeface="Pacifico"/>
                <a:cs typeface="Pacifico"/>
                <a:sym typeface="Pacifico"/>
              </a:rPr>
              <a:t>Music Presentation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3893735" y="2489203"/>
            <a:ext cx="2834889" cy="0"/>
          </a:xfrm>
          <a:prstGeom prst="line">
            <a:avLst/>
          </a:prstGeom>
          <a:ln cap="flat" w="38100">
            <a:solidFill>
              <a:srgbClr val="35332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561218" y="2451103"/>
            <a:ext cx="2834889" cy="0"/>
          </a:xfrm>
          <a:prstGeom prst="line">
            <a:avLst/>
          </a:prstGeom>
          <a:ln cap="flat" w="38100">
            <a:solidFill>
              <a:srgbClr val="35332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468860" y="7983508"/>
            <a:ext cx="1080037" cy="0"/>
          </a:xfrm>
          <a:prstGeom prst="line">
            <a:avLst/>
          </a:prstGeom>
          <a:ln cap="flat" w="38100">
            <a:solidFill>
              <a:srgbClr val="B126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5807681" y="7983508"/>
            <a:ext cx="1080037" cy="0"/>
          </a:xfrm>
          <a:prstGeom prst="line">
            <a:avLst/>
          </a:prstGeom>
          <a:ln cap="flat" w="38100">
            <a:solidFill>
              <a:srgbClr val="B126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true" flipV="false" rot="0">
            <a:off x="-1153609" y="7193684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5039391" y="0"/>
                </a:moveTo>
                <a:lnTo>
                  <a:pt x="0" y="0"/>
                </a:lnTo>
                <a:lnTo>
                  <a:pt x="0" y="5030229"/>
                </a:lnTo>
                <a:lnTo>
                  <a:pt x="5039391" y="5030229"/>
                </a:lnTo>
                <a:lnTo>
                  <a:pt x="503939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08929" y="7472781"/>
            <a:ext cx="5039391" cy="5030228"/>
          </a:xfrm>
          <a:custGeom>
            <a:avLst/>
            <a:gdLst/>
            <a:ahLst/>
            <a:cxnLst/>
            <a:rect r="r" b="b" t="t" l="l"/>
            <a:pathLst>
              <a:path h="5030228" w="5039391">
                <a:moveTo>
                  <a:pt x="0" y="0"/>
                </a:moveTo>
                <a:lnTo>
                  <a:pt x="5039391" y="0"/>
                </a:lnTo>
                <a:lnTo>
                  <a:pt x="5039391" y="5030228"/>
                </a:lnTo>
                <a:lnTo>
                  <a:pt x="0" y="50302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DAHFYnDMmAI</dc:identifier>
  <dcterms:modified xsi:type="dcterms:W3CDTF">2011-08-01T06:04:30Z</dcterms:modified>
  <cp:revision>1</cp:revision>
  <dc:title>創意專題競賽-音訊轉換簡譜系統</dc:title>
</cp:coreProperties>
</file>